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5F318FB-F7BF-41F6-810F-1D7D27CE1458}">
          <p14:sldIdLst>
            <p14:sldId id="256"/>
            <p14:sldId id="257"/>
            <p14:sldId id="258"/>
            <p14:sldId id="259"/>
          </p14:sldIdLst>
        </p14:section>
        <p14:section name="How it reads the logs" id="{58418E32-C890-4AEE-B060-BF65F3A2ACC5}">
          <p14:sldIdLst>
            <p14:sldId id="260"/>
            <p14:sldId id="261"/>
            <p14:sldId id="262"/>
            <p14:sldId id="263"/>
          </p14:sldIdLst>
        </p14:section>
        <p14:section name="The drive verdict" id="{2AB903CD-9CBD-42F8-ACE9-A73C2611FE55}">
          <p14:sldIdLst>
            <p14:sldId id="264"/>
            <p14:sldId id="265"/>
            <p14:sldId id="266"/>
            <p14:sldId id="267"/>
            <p14:sldId id="268"/>
          </p14:sldIdLst>
        </p14:section>
        <p14:section name="Using it" id="{F2A0912C-0759-49F4-BABF-CE6B97D6585C}">
          <p14:sldIdLst>
            <p14:sldId id="269"/>
            <p14:sldId id="270"/>
            <p14:sldId id="271"/>
          </p14:sldIdLst>
        </p14:section>
        <p14:section name="Next steps" id="{426CC54B-2396-48A0-A783-8028B98489E2}">
          <p14:sldIdLst>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Today I want to walk you through WELA — the Windows Event Log Analyzer.</a:t>
            </a:r>
          </a:p>
          <a:p>
            <a:r>
              <a:t>The short version: you point it at the event logs from a customer’s machine, and within seconds it tells you every time that machine powered off, how it powered off, and what the SSD was doing around each of those moments.</a:t>
            </a:r>
          </a:p>
          <a:p>
            <a:r>
              <a:t>On the right are the four answers it gives to the question we care about most: did the drive cause it?</a:t>
            </a:r>
          </a:p>
          <a:p>
            <a:r>
              <a:t>I’ll cover why we need this, how to use it, the logic behind every verdict — including where that logic can be wrong — and what I need from you to make it reliable. Stop me any time with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how we do this today. When a claim comes in, someone opens Event Viewer and scrolls.</a:t>
            </a:r>
          </a:p>
          <a:p>
            <a:r>
              <a:t>A week of logs is thousands of events, spread across System, Application and the Storport log.</a:t>
            </a:r>
          </a:p>
          <a:p>
            <a:r>
              <a:t>The hard part: Windows never writes ‘the machine lost power’ — it can’t, it’s dead at that moment. We infer it from event 41 on the next boot, from event 6008, and from the clean-shutdown events that are missing.</a:t>
            </a:r>
          </a:p>
          <a:p>
            <a:r>
              <a:t>And the drive clues — NVMe resets, retried I/O, Storport warnings — sit in other logs, so we line up timestamps by hand.</a:t>
            </a:r>
          </a:p>
          <a:p>
            <a:r>
              <a:t>That makes it slow, and two engineers can reach different conclusions from the same logs. That’s what WELA fixes.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WELA answers three questions for every power cycle.</a:t>
            </a:r>
          </a:p>
          <a:p>
            <a:r>
              <a:t>One: how did the machine power off? A normal shutdown, a restart, Fast Startup, sleep — or a hard shutdown, and if so what kind: a crash, a power loss, someone holding the power button.</a:t>
            </a:r>
          </a:p>
          <a:p>
            <a:r>
              <a:t>Two: what was the drive doing? It pulls every Storport and disk event from the minute before power-off and the minute after boot.</a:t>
            </a:r>
          </a:p>
          <a:p>
            <a:r>
              <a:t>Three: did the drive cause it? It gives one of four answers, with the reasons written out.</a:t>
            </a:r>
          </a:p>
          <a:p>
            <a:r>
              <a:t>On the right are three design choices that matter for us: nothing to install on Windows; it only runs locally, so customer data never leaves the PC; and every conclusion shows the evidence behind it, so you can always check its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it takes five steps.</a:t>
            </a:r>
          </a:p>
          <a:p>
            <a:r>
              <a:t>First, collect the logs — the four wevtutil commands at the bottom export them from the customer’s machine. The Partition log is optional, but it gives us the drive model, firmware and serial.</a:t>
            </a:r>
          </a:p>
          <a:p>
            <a:r>
              <a:t>Second, run python run_wela.py — it opens the app in your browser.</a:t>
            </a:r>
          </a:p>
          <a:p>
            <a:r>
              <a:t>Third, paste the folder path and click Analyze. It takes a few seconds.</a:t>
            </a:r>
          </a:p>
          <a:p>
            <a:r>
              <a:t>Fourth, review. I suggest starting with the Needs review and Drive suspected filters.</a:t>
            </a:r>
          </a:p>
          <a:p>
            <a:r>
              <a:t>Fifth, export. The Excel file is the one to attach to the claim.</a:t>
            </a:r>
          </a:p>
          <a:p>
            <a:r>
              <a:t>If you want to try it before you have real logs, the Try demo data button loads a made-up case that covers every tricky scenario.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how WELA turns raw events into a list of power cycles. This part is about how the machine powered off — the drive comes after.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pipeline in seven steps.</a:t>
            </a:r>
          </a:p>
          <a:p>
            <a:r>
              <a:t>It merges every log into one timeline in UTC. It checks the logs themselves: is a log missing, are record numbers missing, was a log cleared, did someone change the clock.</a:t>
            </a:r>
          </a:p>
          <a:p>
            <a:r>
              <a:t>Then it finds boots. Windows writes several events at every startup — 12, 6005, 6009 and 27 — and if they land within three minutes, that’s one boot.</a:t>
            </a:r>
          </a:p>
          <a:p>
            <a:r>
              <a:t>Then the key idea at the bottom: every boot closes the previous session. So for each boot WELA asks: how did the session before it end?</a:t>
            </a:r>
          </a:p>
          <a:p>
            <a:r>
              <a:t>After that it rebuilds sleep and hibernate episodes, pulls the drive events around each power cycle, and finally produces the verdicts: the drive cause and effect, a confidence score, and whether you should review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shutdown classification.</a:t>
            </a:r>
          </a:p>
          <a:p>
            <a:r>
              <a:t>If the end of a session has shutdown events — 1074 is the shutdown request, 13 and 6006 are Windows and the event log stopping — it was a clean stop. 1074 even says restart or power off; if it doesn’t, a boot within five minutes means restart. If the next boot is a hybrid boot, it was Fast Startup.</a:t>
            </a:r>
          </a:p>
          <a:p>
            <a:r>
              <a:t>If the next boot logs 41 or 6008, the previous session ended badly, and event 41 has fields that tell us which kind: a bugcheck code means a crash, a power-button timestamp means someone held the button, a sleep flag means power was lost while asleep.</a:t>
            </a:r>
          </a:p>
          <a:p>
            <a:r>
              <a:t>If a shutdown started but 41 still appears, the shutdown hung.</a:t>
            </a:r>
          </a:p>
          <a:p>
            <a:r>
              <a:t>And when records are missing, WELA says Undetermined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verdict gets a confidence score, and it’s simple: each piece of evidence adds a weight.</a:t>
            </a:r>
          </a:p>
          <a:p>
            <a:r>
              <a:t>A clean shutdown with 1074, 13 and 6006 reaches 95%. A hard shutdown with both 41 and 6008 reaches 90%.</a:t>
            </a:r>
          </a:p>
          <a:p>
            <a:r>
              <a:t>When nothing at all was logged — no shutdown events and no 41 — WELA infers a hard shutdown but only gives it 30%.</a:t>
            </a:r>
          </a:p>
          <a:p>
            <a:r>
              <a:t>Conflicting evidence and missing records subtract.</a:t>
            </a:r>
          </a:p>
          <a:p>
            <a:r>
              <a:t>Anything under 60%, or anything with a warning, is marked Needs review — those are the items to look at by hand first. All of these weights live in one config file, so we can tune them as we validate.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 that matters most for claims: did the drive cause the power cycle?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power cycle WELA looks at two windows. The minute before the last event Windows logged before power-off — that’s where a cause would show up. And the minute after the next boot — that’s where we see the effect.</a:t>
            </a:r>
          </a:p>
          <a:p>
            <a:r>
              <a:t>In this example the drive retried I/O, logged Storport warnings, and was reset twice: 32 and 17 seconds before the machine went down. After boot it was detected again at plus 3 seconds and logged one more warning at plus 60.</a:t>
            </a:r>
          </a:p>
          <a:p>
            <a:r>
              <a:t>Every event in both windows is listed — Information-level ones included — with its offset and key fields; SCSI opcodes are decoded, so Opcode 42 shows as WRITE(10).</a:t>
            </a:r>
          </a:p>
          <a:p>
            <a:r>
              <a:t>To decide, each event gets a severity, from ‘missing’ — the drive dropped off the bus — down to ‘info’, which is shown but never counted.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rules, checked in order — the first one that matches wins.</a:t>
            </a:r>
          </a:p>
          <a:p>
            <a:r>
              <a:t>Likely: the drive reset, errored or disappeared in the minute before power-off, or the crash code is one that points at storage — like 0x7A, which means Windows couldn’t read memory pages back from disk.</a:t>
            </a:r>
          </a:p>
          <a:p>
            <a:r>
              <a:t>Possibly: slow I/O or warnings, or only WHEA hardware errors — which could come from another device — or a crash code that’s sometimes storage, like 0x9F.</a:t>
            </a:r>
          </a:p>
          <a:p>
            <a:r>
              <a:t>No drive evidence: the logs cover that minute and the drive was quiet.</a:t>
            </a:r>
          </a:p>
          <a:p>
            <a:r>
              <a:t>Can’t tell: there’s no log for that minute.</a:t>
            </a:r>
          </a:p>
          <a:p>
            <a:r>
              <a:t>Normal shutdowns get ‘No, orderly’. The logic is simple on purpose: a cause has to happen before the failure, so only the minute before counts toward the cause. The minute after boot is reported separately as the effect.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an example from the demo case — power cycle T5.</a:t>
            </a:r>
          </a:p>
          <a:p>
            <a:r>
              <a:t>The machine died at 11:42:12 with no clean shutdown, and event 41 appeared at the next boot.</a:t>
            </a:r>
          </a:p>
          <a:p>
            <a:r>
              <a:t>In the minute before, the drive retried I/O five times, Storport logged three warnings on write commands, and the NVMe controller was reset twice. The worst event is a reset, so the verdict is Likely.</a:t>
            </a:r>
          </a:p>
          <a:p>
            <a:r>
              <a:t>On the right is exactly what you see in the app: the verdict, the reasons, and every event with its offset from the power cycle.</a:t>
            </a:r>
          </a:p>
          <a:p>
            <a:r>
              <a:t>After boot the drive came back, but logged one more warning a minute later. This is the kind of case where you’d pull the drive’s own logs next.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rely on these verdicts, here’s what they can’t tell you.</a:t>
            </a:r>
          </a:p>
          <a:p>
            <a:r>
              <a:t>The big one: ‘No drive evidence’ does not mean the drive is fine. Windows saves its logs to the system drive. If that drive freezes instantly, Windows can’t save its last events — so a drive that failed hard can look quiet. That’s why we always cross-check with SMART and the drive’s error log.</a:t>
            </a:r>
          </a:p>
          <a:p>
            <a:r>
              <a:t>Second, timing isn’t proof: a failing power supply can reset the drive and kill the machine at the same moment.</a:t>
            </a:r>
          </a:p>
          <a:p>
            <a:r>
              <a:t>Third, only the last minute counts by default — you can widen it in Analysis settings.</a:t>
            </a:r>
          </a:p>
          <a:p>
            <a:r>
              <a:t>And fourth, WELA judges Storport events only by Windows’ severity, because it doesn’t yet know what each Storport event ID means. Real logs from you will fix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tour.</a:t>
            </a:r>
          </a:p>
          <a:p>
            <a:r>
              <a:t>The Overview shows the counts at the top, then the ‘Did the drive cause it?’ card listing the suspects, then hard-shutdown causes and what needs review.</a:t>
            </a:r>
          </a:p>
          <a:p>
            <a:r>
              <a:t>The Timeline shows the whole log period — you can zoom and click any marker.</a:t>
            </a:r>
          </a:p>
          <a:p>
            <a:r>
              <a:t>Power cycles is the main list; click a row and you get the evidence and both drive windows.</a:t>
            </a:r>
          </a:p>
          <a:p>
            <a:r>
              <a:t>Drive shows the disk model, firmware and serial, and every storage warning or error.</a:t>
            </a:r>
          </a:p>
          <a:p>
            <a:r>
              <a:t>Data quality tells you whether you can trust the logs.</a:t>
            </a:r>
          </a:p>
          <a:p>
            <a:r>
              <a:t>And SMART check compares the drive’s own counters with the logs.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glance at Data quality before trusting a verdict.</a:t>
            </a:r>
          </a:p>
          <a:p>
            <a:r>
              <a:t>If a log is missing, ask the customer for it. If record numbers are missing, events were lost — WELA lowers confidence or says Undetermined near those gaps. Cleared logs and clock changes are red flags too.</a:t>
            </a:r>
          </a:p>
          <a:p>
            <a:r>
              <a:t>The SMART check is our independent second opinion: the drive counts power cycles and unsafe shutdowns on its own. Take how much those counters rose over the log period and enter it. If the drive counted more unsafe shutdowns than the logs explain, events are missing from the Windows logs.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sharing: the HTML report is a single file you can open anywhere. The Excel workbook is the one for the claim — it has a summary, the power-cycle list, and a Drive windows sheet with every event from both windows of every power cycle.</a:t>
            </a:r>
          </a:p>
          <a:p>
            <a:r>
              <a:t>Every analysis is saved locally and appears in the sidebar; nothing is uploaded.</a:t>
            </a:r>
          </a:p>
          <a:p>
            <a:r>
              <a:t>And everything WELA knows — event IDs, weights, thresholds, crash codes — lives in one file, catalog.py, which we can override with a small JSON file without touching code.</a:t>
            </a:r>
          </a:p>
          <a:p>
            <a:r>
              <a:t>Under the hood it’s plain Python with no dependencies, so it runs on any Windows PC with Python installed.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 need from you.</a:t>
            </a:r>
          </a:p>
          <a:p>
            <a:r>
              <a:t>First, closed claims where we already know the answer — 20 to 30 would let us measure how often each verdict is right.</a:t>
            </a:r>
          </a:p>
          <a:p>
            <a:r>
              <a:t>Second, lab tests: pull the plug, hold the power button, force a crash, sleep and wake — and check that WELA calls each one correctly.</a:t>
            </a:r>
          </a:p>
          <a:p>
            <a:r>
              <a:t>Third, real Storport logs, so we can name the Storport events that matter.</a:t>
            </a:r>
          </a:p>
          <a:p>
            <a:r>
              <a:t>And fourth, just try it on your next claim and tell me where a verdict looked wrong or a reason was unclear.</a:t>
            </a:r>
          </a:p>
          <a:p>
            <a:r>
              <a:t>The code is on GitHub. The repo is private, so ask me for access.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758" y="0"/>
            <a:ext cx="14629667"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3854" y="0"/>
            <a:ext cx="5147475" cy="0"/>
          </a:xfrm>
        </p:spPr>
        <p:txBody>
          <a:bodyPr/>
          <a:lstStyle/>
          <a:p>
            <a:endParaRPr lang="en-US"/>
          </a:p>
        </p:txBody>
      </p:sp>
      <p:sp>
        <p:nvSpPr>
          <p:cNvPr id="9" name="Slide Number Placeholder 8"/>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3854" y="0"/>
            <a:ext cx="5147475" cy="0"/>
          </a:xfrm>
        </p:spPr>
        <p:txBody>
          <a:bodyPr/>
          <a:lstStyle/>
          <a:p>
            <a:endParaRPr lang="en-US"/>
          </a:p>
        </p:txBody>
      </p:sp>
      <p:sp>
        <p:nvSpPr>
          <p:cNvPr id="5" name="Slide Number Placeholder 4"/>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3854" y="0"/>
            <a:ext cx="5147475" cy="0"/>
          </a:xfrm>
        </p:spPr>
        <p:txBody>
          <a:bodyPr/>
          <a:lstStyle/>
          <a:p>
            <a:endParaRPr lang="en-US"/>
          </a:p>
        </p:txBody>
      </p:sp>
      <p:sp>
        <p:nvSpPr>
          <p:cNvPr id="4" name="Slide Number Placeholder 3"/>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7"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7"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758" y="0"/>
            <a:ext cx="14629667"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ctrTitle"/>
          </p:nvPr>
        </p:nvSpPr>
        <p:spPr>
          <a:xfrm>
            <a:off x="822960" y="2240280"/>
            <a:ext cx="6858000" cy="1051560"/>
          </a:xfrm>
        </p:spPr>
        <p:txBody>
          <a:bodyPr wrap="square" lIns="0" rIns="0" tIns="0" bIns="0" anchor="t">
            <a:noAutofit/>
          </a:bodyPr>
          <a:lstStyle/>
          <a:p>
            <a:pPr algn="l">
              <a:spcAft>
                <a:spcPts val="0"/>
              </a:spcAft>
            </a:pPr>
            <a:r>
              <a:rPr sz="6600" b="1">
                <a:solidFill>
                  <a:schemeClr val="bg1"/>
                </a:solidFill>
              </a:rPr>
              <a:t>WELA</a:t>
            </a:r>
          </a:p>
        </p:txBody>
      </p:sp>
      <p:sp>
        <p:nvSpPr>
          <p:cNvPr id="3" name="Logo"/>
          <p:cNvSpPr/>
          <p:nvPr/>
        </p:nvSpPr>
        <p:spPr>
          <a:xfrm>
            <a:off x="822960" y="1097280"/>
            <a:ext cx="868680" cy="868680"/>
          </a:xfrm>
          <a:prstGeom prst="roundRect">
            <a:avLst>
              <a:gd name="adj" fmla="val 21052"/>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pulse" descr="WELA logo"/>
          <p:cNvPicPr>
            <a:picLocks noChangeAspect="1"/>
          </p:cNvPicPr>
          <p:nvPr/>
        </p:nvPicPr>
        <p:blipFill>
          <a:blip r:embed="rId2"/>
          <a:stretch>
            <a:fillRect/>
          </a:stretch>
        </p:blipFill>
        <p:spPr>
          <a:xfrm>
            <a:off x="896112" y="1170432"/>
            <a:ext cx="722376" cy="722376"/>
          </a:xfrm>
          <a:prstGeom prst="rect">
            <a:avLst/>
          </a:prstGeom>
        </p:spPr>
      </p:pic>
      <p:sp>
        <p:nvSpPr>
          <p:cNvPr id="5" name="Subtitle"/>
          <p:cNvSpPr txBox="1"/>
          <p:nvPr/>
        </p:nvSpPr>
        <p:spPr>
          <a:xfrm>
            <a:off x="822960" y="3291840"/>
            <a:ext cx="6858000" cy="502920"/>
          </a:xfrm>
          <a:prstGeom prst="rect">
            <a:avLst/>
          </a:prstGeom>
          <a:noFill/>
        </p:spPr>
        <p:txBody>
          <a:bodyPr wrap="square" lIns="0" rIns="0" tIns="0" bIns="0" anchor="t">
            <a:noAutofit/>
          </a:bodyPr>
          <a:lstStyle/>
          <a:p>
            <a:pPr algn="l">
              <a:spcAft>
                <a:spcPts val="0"/>
              </a:spcAft>
            </a:pPr>
            <a:r>
              <a:rPr sz="2600" b="0">
                <a:solidFill>
                  <a:srgbClr val="B9C2DA"/>
                </a:solidFill>
              </a:rPr>
              <a:t>Windows Event Log Analyzer</a:t>
            </a:r>
          </a:p>
        </p:txBody>
      </p:sp>
      <p:sp>
        <p:nvSpPr>
          <p:cNvPr id="6" name="Tagline"/>
          <p:cNvSpPr txBox="1"/>
          <p:nvPr/>
        </p:nvSpPr>
        <p:spPr>
          <a:xfrm>
            <a:off x="822960" y="4069080"/>
            <a:ext cx="6583680" cy="960120"/>
          </a:xfrm>
          <a:prstGeom prst="rect">
            <a:avLst/>
          </a:prstGeom>
          <a:noFill/>
        </p:spPr>
        <p:txBody>
          <a:bodyPr wrap="square" lIns="0" rIns="0" tIns="0" bIns="0" anchor="t">
            <a:noAutofit/>
          </a:bodyPr>
          <a:lstStyle/>
          <a:p>
            <a:pPr algn="l">
              <a:spcAft>
                <a:spcPts val="0"/>
              </a:spcAft>
            </a:pPr>
            <a:r>
              <a:rPr sz="2000" b="0">
                <a:solidFill>
                  <a:schemeClr val="bg1"/>
                </a:solidFill>
              </a:rPr>
              <a:t>Did the SSD cause that shutdown? Every power cycle in a claim’s Windows logs — rebuilt, checked against the drive, and explained.</a:t>
            </a:r>
          </a:p>
        </p:txBody>
      </p:sp>
      <p:sp>
        <p:nvSpPr>
          <p:cNvPr id="7" name="Occasion"/>
          <p:cNvSpPr txBox="1"/>
          <p:nvPr/>
        </p:nvSpPr>
        <p:spPr>
          <a:xfrm>
            <a:off x="822960" y="5897880"/>
            <a:ext cx="5486400" cy="365760"/>
          </a:xfrm>
          <a:prstGeom prst="rect">
            <a:avLst/>
          </a:prstGeom>
          <a:noFill/>
        </p:spPr>
        <p:txBody>
          <a:bodyPr wrap="square" lIns="0" rIns="0" tIns="0" bIns="0" anchor="t">
            <a:noAutofit/>
          </a:bodyPr>
          <a:lstStyle/>
          <a:p>
            <a:pPr algn="l">
              <a:spcAft>
                <a:spcPts val="0"/>
              </a:spcAft>
            </a:pPr>
            <a:r>
              <a:rPr sz="1400" b="0">
                <a:solidFill>
                  <a:srgbClr val="8FA2FF"/>
                </a:solidFill>
              </a:rPr>
              <a:t>Team walkthrough · October 2026</a:t>
            </a:r>
          </a:p>
        </p:txBody>
      </p:sp>
      <p:sp>
        <p:nvSpPr>
          <p:cNvPr id="8" name="Verdicts label"/>
          <p:cNvSpPr txBox="1"/>
          <p:nvPr/>
        </p:nvSpPr>
        <p:spPr>
          <a:xfrm>
            <a:off x="8183879" y="1325880"/>
            <a:ext cx="3474720" cy="365760"/>
          </a:xfrm>
          <a:prstGeom prst="rect">
            <a:avLst/>
          </a:prstGeom>
          <a:noFill/>
        </p:spPr>
        <p:txBody>
          <a:bodyPr wrap="square" lIns="0" rIns="0" tIns="0" bIns="0" anchor="t">
            <a:noAutofit/>
          </a:bodyPr>
          <a:lstStyle/>
          <a:p>
            <a:pPr algn="l">
              <a:spcAft>
                <a:spcPts val="0"/>
              </a:spcAft>
            </a:pPr>
            <a:r>
              <a:rPr sz="1500" b="1">
                <a:solidFill>
                  <a:srgbClr val="B9C2DA"/>
                </a:solidFill>
              </a:rPr>
              <a:t>Did the drive cause it?</a:t>
            </a:r>
          </a:p>
        </p:txBody>
      </p:sp>
      <p:sp>
        <p:nvSpPr>
          <p:cNvPr id="9" name="Likely pill"/>
          <p:cNvSpPr/>
          <p:nvPr/>
        </p:nvSpPr>
        <p:spPr>
          <a:xfrm>
            <a:off x="8183879" y="1828800"/>
            <a:ext cx="3429000" cy="566928"/>
          </a:xfrm>
          <a:prstGeom prst="roundRect">
            <a:avLst>
              <a:gd name="adj" fmla="val 50000"/>
            </a:avLst>
          </a:prstGeom>
          <a:solidFill>
            <a:srgbClr val="1C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ikely dot"/>
          <p:cNvSpPr/>
          <p:nvPr/>
        </p:nvSpPr>
        <p:spPr>
          <a:xfrm>
            <a:off x="8430768" y="2029968"/>
            <a:ext cx="164592" cy="164592"/>
          </a:xfrm>
          <a:prstGeom prst="ellipse">
            <a:avLst/>
          </a:prstGeom>
          <a:solidFill>
            <a:srgbClr val="F07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ikely text"/>
          <p:cNvSpPr txBox="1"/>
          <p:nvPr/>
        </p:nvSpPr>
        <p:spPr>
          <a:xfrm>
            <a:off x="8778240" y="1828800"/>
            <a:ext cx="2743200" cy="566928"/>
          </a:xfrm>
          <a:prstGeom prst="rect">
            <a:avLst/>
          </a:prstGeom>
          <a:noFill/>
        </p:spPr>
        <p:txBody>
          <a:bodyPr wrap="square" lIns="0" rIns="0" tIns="0" bIns="0" anchor="ctr">
            <a:noAutofit/>
          </a:bodyPr>
          <a:lstStyle/>
          <a:p>
            <a:pPr algn="l">
              <a:spcAft>
                <a:spcPts val="0"/>
              </a:spcAft>
            </a:pPr>
            <a:r>
              <a:rPr sz="1700" b="1">
                <a:solidFill>
                  <a:schemeClr val="bg1"/>
                </a:solidFill>
              </a:rPr>
              <a:t>Likely</a:t>
            </a:r>
          </a:p>
        </p:txBody>
      </p:sp>
      <p:sp>
        <p:nvSpPr>
          <p:cNvPr id="12" name="Possibly pill"/>
          <p:cNvSpPr/>
          <p:nvPr/>
        </p:nvSpPr>
        <p:spPr>
          <a:xfrm>
            <a:off x="8183879" y="2578608"/>
            <a:ext cx="3429000" cy="566928"/>
          </a:xfrm>
          <a:prstGeom prst="roundRect">
            <a:avLst>
              <a:gd name="adj" fmla="val 50000"/>
            </a:avLst>
          </a:prstGeom>
          <a:solidFill>
            <a:srgbClr val="1C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ossibly dot"/>
          <p:cNvSpPr/>
          <p:nvPr/>
        </p:nvSpPr>
        <p:spPr>
          <a:xfrm>
            <a:off x="8430768" y="2779776"/>
            <a:ext cx="164592" cy="164592"/>
          </a:xfrm>
          <a:prstGeom prst="ellipse">
            <a:avLst/>
          </a:prstGeom>
          <a:solidFill>
            <a:srgbClr val="E0A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ossibly text"/>
          <p:cNvSpPr txBox="1"/>
          <p:nvPr/>
        </p:nvSpPr>
        <p:spPr>
          <a:xfrm>
            <a:off x="8778240" y="2578608"/>
            <a:ext cx="2743200" cy="566928"/>
          </a:xfrm>
          <a:prstGeom prst="rect">
            <a:avLst/>
          </a:prstGeom>
          <a:noFill/>
        </p:spPr>
        <p:txBody>
          <a:bodyPr wrap="square" lIns="0" rIns="0" tIns="0" bIns="0" anchor="ctr">
            <a:noAutofit/>
          </a:bodyPr>
          <a:lstStyle/>
          <a:p>
            <a:pPr algn="l">
              <a:spcAft>
                <a:spcPts val="0"/>
              </a:spcAft>
            </a:pPr>
            <a:r>
              <a:rPr sz="1700" b="1">
                <a:solidFill>
                  <a:schemeClr val="bg1"/>
                </a:solidFill>
              </a:rPr>
              <a:t>Possibly</a:t>
            </a:r>
          </a:p>
        </p:txBody>
      </p:sp>
      <p:sp>
        <p:nvSpPr>
          <p:cNvPr id="15" name="No drive evidence pill"/>
          <p:cNvSpPr/>
          <p:nvPr/>
        </p:nvSpPr>
        <p:spPr>
          <a:xfrm>
            <a:off x="8183879" y="3328415"/>
            <a:ext cx="3429000" cy="566928"/>
          </a:xfrm>
          <a:prstGeom prst="roundRect">
            <a:avLst>
              <a:gd name="adj" fmla="val 50000"/>
            </a:avLst>
          </a:prstGeom>
          <a:solidFill>
            <a:srgbClr val="1C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o drive evidence dot"/>
          <p:cNvSpPr/>
          <p:nvPr/>
        </p:nvSpPr>
        <p:spPr>
          <a:xfrm>
            <a:off x="8430768" y="3529584"/>
            <a:ext cx="164592" cy="164592"/>
          </a:xfrm>
          <a:prstGeom prst="ellipse">
            <a:avLst/>
          </a:prstGeom>
          <a:solidFill>
            <a:srgbClr val="7F9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No drive evidence text"/>
          <p:cNvSpPr txBox="1"/>
          <p:nvPr/>
        </p:nvSpPr>
        <p:spPr>
          <a:xfrm>
            <a:off x="8778240" y="3328415"/>
            <a:ext cx="2743200" cy="566928"/>
          </a:xfrm>
          <a:prstGeom prst="rect">
            <a:avLst/>
          </a:prstGeom>
          <a:noFill/>
        </p:spPr>
        <p:txBody>
          <a:bodyPr wrap="square" lIns="0" rIns="0" tIns="0" bIns="0" anchor="ctr">
            <a:noAutofit/>
          </a:bodyPr>
          <a:lstStyle/>
          <a:p>
            <a:pPr algn="l">
              <a:spcAft>
                <a:spcPts val="0"/>
              </a:spcAft>
            </a:pPr>
            <a:r>
              <a:rPr sz="1700" b="1">
                <a:solidFill>
                  <a:schemeClr val="bg1"/>
                </a:solidFill>
              </a:rPr>
              <a:t>No drive evidence</a:t>
            </a:r>
          </a:p>
        </p:txBody>
      </p:sp>
      <p:sp>
        <p:nvSpPr>
          <p:cNvPr id="18" name="Can’t tell pill"/>
          <p:cNvSpPr/>
          <p:nvPr/>
        </p:nvSpPr>
        <p:spPr>
          <a:xfrm>
            <a:off x="8183879" y="4078224"/>
            <a:ext cx="3429000" cy="566928"/>
          </a:xfrm>
          <a:prstGeom prst="roundRect">
            <a:avLst>
              <a:gd name="adj" fmla="val 50000"/>
            </a:avLst>
          </a:prstGeom>
          <a:solidFill>
            <a:srgbClr val="1C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an’t tell dot"/>
          <p:cNvSpPr/>
          <p:nvPr/>
        </p:nvSpPr>
        <p:spPr>
          <a:xfrm>
            <a:off x="8430768" y="4279392"/>
            <a:ext cx="164592" cy="164592"/>
          </a:xfrm>
          <a:prstGeom prst="ellipse">
            <a:avLst/>
          </a:prstGeom>
          <a:solidFill>
            <a:srgbClr val="9AA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an’t tell text"/>
          <p:cNvSpPr txBox="1"/>
          <p:nvPr/>
        </p:nvSpPr>
        <p:spPr>
          <a:xfrm>
            <a:off x="8778240" y="4078224"/>
            <a:ext cx="2743200" cy="566928"/>
          </a:xfrm>
          <a:prstGeom prst="rect">
            <a:avLst/>
          </a:prstGeom>
          <a:noFill/>
        </p:spPr>
        <p:txBody>
          <a:bodyPr wrap="square" lIns="0" rIns="0" tIns="0" bIns="0" anchor="ctr">
            <a:noAutofit/>
          </a:bodyPr>
          <a:lstStyle/>
          <a:p>
            <a:pPr algn="l">
              <a:spcAft>
                <a:spcPts val="0"/>
              </a:spcAft>
            </a:pPr>
            <a:r>
              <a:rPr sz="1700" b="1">
                <a:solidFill>
                  <a:schemeClr val="bg1"/>
                </a:solidFill>
              </a:rPr>
              <a:t>Can’t tell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Reading claim logs by hand is slow</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WHY WE NEED IT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2</a:t>
            </a:r>
          </a:p>
        </p:txBody>
      </p:sp>
      <p:sp>
        <p:nvSpPr>
          <p:cNvPr id="5" name="Thousands of events card"/>
          <p:cNvSpPr/>
          <p:nvPr/>
        </p:nvSpPr>
        <p:spPr>
          <a:xfrm>
            <a:off x="548640" y="1691640"/>
            <a:ext cx="3538728" cy="320040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ist icon circle"/>
          <p:cNvSpPr/>
          <p:nvPr/>
        </p:nvSpPr>
        <p:spPr>
          <a:xfrm>
            <a:off x="868680" y="2011680"/>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list icon" descr="list icon"/>
          <p:cNvPicPr>
            <a:picLocks noChangeAspect="1"/>
          </p:cNvPicPr>
          <p:nvPr/>
        </p:nvPicPr>
        <p:blipFill>
          <a:blip r:embed="rId3"/>
          <a:stretch>
            <a:fillRect/>
          </a:stretch>
        </p:blipFill>
        <p:spPr>
          <a:xfrm>
            <a:off x="1009497" y="2152497"/>
            <a:ext cx="358444" cy="358444"/>
          </a:xfrm>
          <a:prstGeom prst="rect">
            <a:avLst/>
          </a:prstGeom>
        </p:spPr>
      </p:pic>
      <p:sp>
        <p:nvSpPr>
          <p:cNvPr id="8" name="Thousands of events heading"/>
          <p:cNvSpPr txBox="1"/>
          <p:nvPr/>
        </p:nvSpPr>
        <p:spPr>
          <a:xfrm>
            <a:off x="868680" y="2788920"/>
            <a:ext cx="2926080" cy="731520"/>
          </a:xfrm>
          <a:prstGeom prst="rect">
            <a:avLst/>
          </a:prstGeom>
          <a:noFill/>
        </p:spPr>
        <p:txBody>
          <a:bodyPr wrap="square" lIns="0" rIns="0" tIns="0" bIns="0" anchor="t">
            <a:noAutofit/>
          </a:bodyPr>
          <a:lstStyle/>
          <a:p>
            <a:pPr algn="l">
              <a:spcAft>
                <a:spcPts val="0"/>
              </a:spcAft>
            </a:pPr>
            <a:r>
              <a:rPr sz="2000" b="1">
                <a:solidFill>
                  <a:schemeClr val="tx1"/>
                </a:solidFill>
              </a:rPr>
              <a:t>Thousands of events</a:t>
            </a:r>
          </a:p>
        </p:txBody>
      </p:sp>
      <p:sp>
        <p:nvSpPr>
          <p:cNvPr id="9" name="Thousands of events body"/>
          <p:cNvSpPr txBox="1"/>
          <p:nvPr/>
        </p:nvSpPr>
        <p:spPr>
          <a:xfrm>
            <a:off x="868680" y="3566160"/>
            <a:ext cx="2926080" cy="1234440"/>
          </a:xfrm>
          <a:prstGeom prst="rect">
            <a:avLst/>
          </a:prstGeom>
          <a:noFill/>
        </p:spPr>
        <p:txBody>
          <a:bodyPr wrap="square" lIns="0" rIns="0" tIns="0" bIns="0" anchor="t">
            <a:noAutofit/>
          </a:bodyPr>
          <a:lstStyle/>
          <a:p>
            <a:pPr algn="l">
              <a:spcAft>
                <a:spcPts val="0"/>
              </a:spcAft>
            </a:pPr>
            <a:r>
              <a:rPr sz="1500" b="0">
                <a:solidFill>
                  <a:srgbClr val="3A4256"/>
                </a:solidFill>
              </a:rPr>
              <a:t>A week of System, Application and Storport logs is thousands of events across several files.</a:t>
            </a:r>
          </a:p>
        </p:txBody>
      </p:sp>
      <p:sp>
        <p:nvSpPr>
          <p:cNvPr id="10" name="Power loss is never logged card"/>
          <p:cNvSpPr/>
          <p:nvPr/>
        </p:nvSpPr>
        <p:spPr>
          <a:xfrm>
            <a:off x="4315968" y="1691640"/>
            <a:ext cx="3538728" cy="320040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ower icon circle"/>
          <p:cNvSpPr/>
          <p:nvPr/>
        </p:nvSpPr>
        <p:spPr>
          <a:xfrm>
            <a:off x="4636007" y="2011680"/>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ower icon" descr="power icon"/>
          <p:cNvPicPr>
            <a:picLocks noChangeAspect="1"/>
          </p:cNvPicPr>
          <p:nvPr/>
        </p:nvPicPr>
        <p:blipFill>
          <a:blip r:embed="rId4"/>
          <a:stretch>
            <a:fillRect/>
          </a:stretch>
        </p:blipFill>
        <p:spPr>
          <a:xfrm>
            <a:off x="4776825" y="2152497"/>
            <a:ext cx="358444" cy="358444"/>
          </a:xfrm>
          <a:prstGeom prst="rect">
            <a:avLst/>
          </a:prstGeom>
        </p:spPr>
      </p:pic>
      <p:sp>
        <p:nvSpPr>
          <p:cNvPr id="13" name="Power loss is never logged heading"/>
          <p:cNvSpPr txBox="1"/>
          <p:nvPr/>
        </p:nvSpPr>
        <p:spPr>
          <a:xfrm>
            <a:off x="4636007" y="2788920"/>
            <a:ext cx="2926080" cy="731520"/>
          </a:xfrm>
          <a:prstGeom prst="rect">
            <a:avLst/>
          </a:prstGeom>
          <a:noFill/>
        </p:spPr>
        <p:txBody>
          <a:bodyPr wrap="square" lIns="0" rIns="0" tIns="0" bIns="0" anchor="t">
            <a:noAutofit/>
          </a:bodyPr>
          <a:lstStyle/>
          <a:p>
            <a:pPr algn="l">
              <a:spcAft>
                <a:spcPts val="0"/>
              </a:spcAft>
            </a:pPr>
            <a:r>
              <a:rPr sz="2000" b="1">
                <a:solidFill>
                  <a:schemeClr val="tx1"/>
                </a:solidFill>
              </a:rPr>
              <a:t>Power loss is never logged</a:t>
            </a:r>
          </a:p>
        </p:txBody>
      </p:sp>
      <p:sp>
        <p:nvSpPr>
          <p:cNvPr id="14" name="Power loss is never logged body"/>
          <p:cNvSpPr txBox="1"/>
          <p:nvPr/>
        </p:nvSpPr>
        <p:spPr>
          <a:xfrm>
            <a:off x="4636007" y="3566160"/>
            <a:ext cx="2926080" cy="1234440"/>
          </a:xfrm>
          <a:prstGeom prst="rect">
            <a:avLst/>
          </a:prstGeom>
          <a:noFill/>
        </p:spPr>
        <p:txBody>
          <a:bodyPr wrap="square" lIns="0" rIns="0" tIns="0" bIns="0" anchor="t">
            <a:noAutofit/>
          </a:bodyPr>
          <a:lstStyle/>
          <a:p>
            <a:pPr algn="l">
              <a:spcAft>
                <a:spcPts val="0"/>
              </a:spcAft>
            </a:pPr>
            <a:r>
              <a:rPr sz="1500" b="0">
                <a:solidFill>
                  <a:srgbClr val="3A4256"/>
                </a:solidFill>
              </a:rPr>
              <a:t>Windows can’t log the moment it loses power. You infer it from events 41 and 6008 and from what’s missing.</a:t>
            </a:r>
          </a:p>
        </p:txBody>
      </p:sp>
      <p:sp>
        <p:nvSpPr>
          <p:cNvPr id="15" name="Drive clues are scattered card"/>
          <p:cNvSpPr/>
          <p:nvPr/>
        </p:nvSpPr>
        <p:spPr>
          <a:xfrm>
            <a:off x="8083296" y="1691640"/>
            <a:ext cx="3538728" cy="320040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rive icon circle"/>
          <p:cNvSpPr/>
          <p:nvPr/>
        </p:nvSpPr>
        <p:spPr>
          <a:xfrm>
            <a:off x="8403336" y="2011680"/>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drive icon" descr="drive icon"/>
          <p:cNvPicPr>
            <a:picLocks noChangeAspect="1"/>
          </p:cNvPicPr>
          <p:nvPr/>
        </p:nvPicPr>
        <p:blipFill>
          <a:blip r:embed="rId5"/>
          <a:stretch>
            <a:fillRect/>
          </a:stretch>
        </p:blipFill>
        <p:spPr>
          <a:xfrm>
            <a:off x="8544153" y="2152497"/>
            <a:ext cx="358444" cy="358444"/>
          </a:xfrm>
          <a:prstGeom prst="rect">
            <a:avLst/>
          </a:prstGeom>
        </p:spPr>
      </p:pic>
      <p:sp>
        <p:nvSpPr>
          <p:cNvPr id="18" name="Drive clues are scattered heading"/>
          <p:cNvSpPr txBox="1"/>
          <p:nvPr/>
        </p:nvSpPr>
        <p:spPr>
          <a:xfrm>
            <a:off x="8403336" y="2788920"/>
            <a:ext cx="2926080" cy="731520"/>
          </a:xfrm>
          <a:prstGeom prst="rect">
            <a:avLst/>
          </a:prstGeom>
          <a:noFill/>
        </p:spPr>
        <p:txBody>
          <a:bodyPr wrap="square" lIns="0" rIns="0" tIns="0" bIns="0" anchor="t">
            <a:noAutofit/>
          </a:bodyPr>
          <a:lstStyle/>
          <a:p>
            <a:pPr algn="l">
              <a:spcAft>
                <a:spcPts val="0"/>
              </a:spcAft>
            </a:pPr>
            <a:r>
              <a:rPr sz="2000" b="1">
                <a:solidFill>
                  <a:schemeClr val="tx1"/>
                </a:solidFill>
              </a:rPr>
              <a:t>Drive clues are scattered</a:t>
            </a:r>
          </a:p>
        </p:txBody>
      </p:sp>
      <p:sp>
        <p:nvSpPr>
          <p:cNvPr id="19" name="Drive clues are scattered body"/>
          <p:cNvSpPr txBox="1"/>
          <p:nvPr/>
        </p:nvSpPr>
        <p:spPr>
          <a:xfrm>
            <a:off x="8403336" y="3566160"/>
            <a:ext cx="2926080" cy="1234440"/>
          </a:xfrm>
          <a:prstGeom prst="rect">
            <a:avLst/>
          </a:prstGeom>
          <a:noFill/>
        </p:spPr>
        <p:txBody>
          <a:bodyPr wrap="square" lIns="0" rIns="0" tIns="0" bIns="0" anchor="t">
            <a:noAutofit/>
          </a:bodyPr>
          <a:lstStyle/>
          <a:p>
            <a:pPr algn="l">
              <a:spcAft>
                <a:spcPts val="0"/>
              </a:spcAft>
            </a:pPr>
            <a:r>
              <a:rPr sz="1500" b="0">
                <a:solidFill>
                  <a:srgbClr val="3A4256"/>
                </a:solidFill>
              </a:rPr>
              <a:t>NVMe resets, retries and Storport warnings sit in other logs. Lining them up with each shutdown is manual.</a:t>
            </a:r>
          </a:p>
        </p:txBody>
      </p:sp>
      <p:sp>
        <p:nvSpPr>
          <p:cNvPr id="20" name="Result band"/>
          <p:cNvSpPr/>
          <p:nvPr/>
        </p:nvSpPr>
        <p:spPr>
          <a:xfrm>
            <a:off x="548640" y="5212080"/>
            <a:ext cx="11064240" cy="822960"/>
          </a:xfrm>
          <a:prstGeom prst="roundRect">
            <a:avLst>
              <a:gd name="adj" fmla="val 15555"/>
            </a:avLst>
          </a:prstGeom>
          <a:solidFill>
            <a:srgbClr val="E8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212080"/>
            <a:ext cx="10515600" cy="822960"/>
          </a:xfrm>
          <a:prstGeom prst="rect">
            <a:avLst/>
          </a:prstGeom>
          <a:noFill/>
        </p:spPr>
        <p:txBody>
          <a:bodyPr wrap="square" lIns="0" rIns="0" tIns="0" bIns="0" anchor="ctr">
            <a:noAutofit/>
          </a:bodyPr>
          <a:lstStyle/>
          <a:p>
            <a:pPr algn="l">
              <a:spcAft>
                <a:spcPts val="0"/>
              </a:spcAft>
            </a:pPr>
            <a:r>
              <a:rPr sz="1700" b="1">
                <a:solidFill>
                  <a:schemeClr val="tx1"/>
                </a:solidFill>
              </a:rPr>
              <a:t>The result: </a:t>
            </a:r>
            <a:r>
              <a:rPr sz="1700" b="0">
                <a:solidFill>
                  <a:schemeClr val="tx1"/>
                </a:solidFill>
              </a:rPr>
              <a:t>slow, inconsistent from one engineer to the next, and hard to defend in a claim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Three questions, answered for every power cycle</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WHAT IT DOES</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3</a:t>
            </a:r>
          </a:p>
        </p:txBody>
      </p:sp>
      <p:sp>
        <p:nvSpPr>
          <p:cNvPr id="5" name="Step 1"/>
          <p:cNvSpPr/>
          <p:nvPr/>
        </p:nvSpPr>
        <p:spPr>
          <a:xfrm>
            <a:off x="548640" y="1783080"/>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1</a:t>
            </a:r>
          </a:p>
        </p:txBody>
      </p:sp>
      <p:sp>
        <p:nvSpPr>
          <p:cNvPr id="6" name="TextBox 5"/>
          <p:cNvSpPr txBox="1"/>
          <p:nvPr/>
        </p:nvSpPr>
        <p:spPr>
          <a:xfrm>
            <a:off x="1371600" y="1746504"/>
            <a:ext cx="5852160" cy="411480"/>
          </a:xfrm>
          <a:prstGeom prst="rect">
            <a:avLst/>
          </a:prstGeom>
          <a:noFill/>
        </p:spPr>
        <p:txBody>
          <a:bodyPr wrap="square" lIns="0" rIns="0" tIns="0" bIns="0" anchor="t">
            <a:noAutofit/>
          </a:bodyPr>
          <a:lstStyle/>
          <a:p>
            <a:pPr algn="l">
              <a:spcAft>
                <a:spcPts val="0"/>
              </a:spcAft>
            </a:pPr>
            <a:r>
              <a:rPr sz="2100" b="1">
                <a:solidFill>
                  <a:schemeClr val="tx1"/>
                </a:solidFill>
              </a:rPr>
              <a:t>How did the machine power off?</a:t>
            </a:r>
          </a:p>
        </p:txBody>
      </p:sp>
      <p:sp>
        <p:nvSpPr>
          <p:cNvPr id="7" name="TextBox 6"/>
          <p:cNvSpPr txBox="1"/>
          <p:nvPr/>
        </p:nvSpPr>
        <p:spPr>
          <a:xfrm>
            <a:off x="1371600" y="2194560"/>
            <a:ext cx="5852160" cy="685800"/>
          </a:xfrm>
          <a:prstGeom prst="rect">
            <a:avLst/>
          </a:prstGeom>
          <a:noFill/>
        </p:spPr>
        <p:txBody>
          <a:bodyPr wrap="square" lIns="0" rIns="0" tIns="0" bIns="0" anchor="t">
            <a:noAutofit/>
          </a:bodyPr>
          <a:lstStyle/>
          <a:p>
            <a:pPr algn="l">
              <a:spcAft>
                <a:spcPts val="0"/>
              </a:spcAft>
            </a:pPr>
            <a:r>
              <a:rPr sz="1500" b="0">
                <a:solidFill>
                  <a:srgbClr val="3A4256"/>
                </a:solidFill>
              </a:rPr>
              <a:t>Normal shutdown, restart, Fast Startup, sleep or hibernate — or a hard shutdown: crash, power loss, power-button long press.</a:t>
            </a:r>
          </a:p>
        </p:txBody>
      </p:sp>
      <p:sp>
        <p:nvSpPr>
          <p:cNvPr id="8" name="Step 2"/>
          <p:cNvSpPr/>
          <p:nvPr/>
        </p:nvSpPr>
        <p:spPr>
          <a:xfrm>
            <a:off x="548640" y="3017520"/>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2</a:t>
            </a:r>
          </a:p>
        </p:txBody>
      </p:sp>
      <p:sp>
        <p:nvSpPr>
          <p:cNvPr id="9" name="TextBox 8"/>
          <p:cNvSpPr txBox="1"/>
          <p:nvPr/>
        </p:nvSpPr>
        <p:spPr>
          <a:xfrm>
            <a:off x="1371600" y="2980944"/>
            <a:ext cx="5852160" cy="411480"/>
          </a:xfrm>
          <a:prstGeom prst="rect">
            <a:avLst/>
          </a:prstGeom>
          <a:noFill/>
        </p:spPr>
        <p:txBody>
          <a:bodyPr wrap="square" lIns="0" rIns="0" tIns="0" bIns="0" anchor="t">
            <a:noAutofit/>
          </a:bodyPr>
          <a:lstStyle/>
          <a:p>
            <a:pPr algn="l">
              <a:spcAft>
                <a:spcPts val="0"/>
              </a:spcAft>
            </a:pPr>
            <a:r>
              <a:rPr sz="2100" b="1">
                <a:solidFill>
                  <a:schemeClr val="tx1"/>
                </a:solidFill>
              </a:rPr>
              <a:t>What was the drive doing?</a:t>
            </a:r>
          </a:p>
        </p:txBody>
      </p:sp>
      <p:sp>
        <p:nvSpPr>
          <p:cNvPr id="10" name="TextBox 9"/>
          <p:cNvSpPr txBox="1"/>
          <p:nvPr/>
        </p:nvSpPr>
        <p:spPr>
          <a:xfrm>
            <a:off x="1371600" y="3429000"/>
            <a:ext cx="5852160" cy="685800"/>
          </a:xfrm>
          <a:prstGeom prst="rect">
            <a:avLst/>
          </a:prstGeom>
          <a:noFill/>
        </p:spPr>
        <p:txBody>
          <a:bodyPr wrap="square" lIns="0" rIns="0" tIns="0" bIns="0" anchor="t">
            <a:noAutofit/>
          </a:bodyPr>
          <a:lstStyle/>
          <a:p>
            <a:pPr algn="l">
              <a:spcAft>
                <a:spcPts val="0"/>
              </a:spcAft>
            </a:pPr>
            <a:r>
              <a:rPr sz="1500" b="0">
                <a:solidFill>
                  <a:srgbClr val="3A4256"/>
                </a:solidFill>
              </a:rPr>
              <a:t>Every Storport and disk event in the minute before power-off and the minute after boot.</a:t>
            </a:r>
          </a:p>
        </p:txBody>
      </p:sp>
      <p:sp>
        <p:nvSpPr>
          <p:cNvPr id="11" name="Step 3"/>
          <p:cNvSpPr/>
          <p:nvPr/>
        </p:nvSpPr>
        <p:spPr>
          <a:xfrm>
            <a:off x="548640" y="4251960"/>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3</a:t>
            </a:r>
          </a:p>
        </p:txBody>
      </p:sp>
      <p:sp>
        <p:nvSpPr>
          <p:cNvPr id="12" name="TextBox 11"/>
          <p:cNvSpPr txBox="1"/>
          <p:nvPr/>
        </p:nvSpPr>
        <p:spPr>
          <a:xfrm>
            <a:off x="1371600" y="4215384"/>
            <a:ext cx="5852160" cy="411480"/>
          </a:xfrm>
          <a:prstGeom prst="rect">
            <a:avLst/>
          </a:prstGeom>
          <a:noFill/>
        </p:spPr>
        <p:txBody>
          <a:bodyPr wrap="square" lIns="0" rIns="0" tIns="0" bIns="0" anchor="t">
            <a:noAutofit/>
          </a:bodyPr>
          <a:lstStyle/>
          <a:p>
            <a:pPr algn="l">
              <a:spcAft>
                <a:spcPts val="0"/>
              </a:spcAft>
            </a:pPr>
            <a:r>
              <a:rPr sz="2100" b="1">
                <a:solidFill>
                  <a:schemeClr val="tx1"/>
                </a:solidFill>
              </a:rPr>
              <a:t>Did the drive cause it?</a:t>
            </a:r>
          </a:p>
        </p:txBody>
      </p:sp>
      <p:sp>
        <p:nvSpPr>
          <p:cNvPr id="13" name="TextBox 12"/>
          <p:cNvSpPr txBox="1"/>
          <p:nvPr/>
        </p:nvSpPr>
        <p:spPr>
          <a:xfrm>
            <a:off x="1371600" y="4663440"/>
            <a:ext cx="5852160" cy="685800"/>
          </a:xfrm>
          <a:prstGeom prst="rect">
            <a:avLst/>
          </a:prstGeom>
          <a:noFill/>
        </p:spPr>
        <p:txBody>
          <a:bodyPr wrap="square" lIns="0" rIns="0" tIns="0" bIns="0" anchor="t">
            <a:noAutofit/>
          </a:bodyPr>
          <a:lstStyle/>
          <a:p>
            <a:pPr algn="l">
              <a:spcAft>
                <a:spcPts val="0"/>
              </a:spcAft>
            </a:pPr>
            <a:r>
              <a:rPr sz="1500" b="0">
                <a:solidFill>
                  <a:srgbClr val="3A4256"/>
                </a:solidFill>
              </a:rPr>
              <a:t>Likely, Possibly, No drive evidence or Can’t tell — with the reasons spelled out.</a:t>
            </a:r>
          </a:p>
        </p:txBody>
      </p:sp>
      <p:sp>
        <p:nvSpPr>
          <p:cNvPr id="14" name="Principles panel"/>
          <p:cNvSpPr/>
          <p:nvPr/>
        </p:nvSpPr>
        <p:spPr>
          <a:xfrm>
            <a:off x="7680960" y="1691640"/>
            <a:ext cx="3959352" cy="3886200"/>
          </a:xfrm>
          <a:prstGeom prst="roundRect">
            <a:avLst>
              <a:gd name="adj" fmla="val 3294"/>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1920240"/>
            <a:ext cx="3383280" cy="365760"/>
          </a:xfrm>
          <a:prstGeom prst="rect">
            <a:avLst/>
          </a:prstGeom>
          <a:noFill/>
        </p:spPr>
        <p:txBody>
          <a:bodyPr wrap="square" lIns="0" rIns="0" tIns="0" bIns="0" anchor="t">
            <a:noAutofit/>
          </a:bodyPr>
          <a:lstStyle/>
          <a:p>
            <a:pPr algn="l">
              <a:spcAft>
                <a:spcPts val="0"/>
              </a:spcAft>
            </a:pPr>
            <a:r>
              <a:rPr sz="1600" b="1">
                <a:solidFill>
                  <a:schemeClr val="tx1"/>
                </a:solidFill>
              </a:rPr>
              <a:t>Built to be trusted</a:t>
            </a:r>
          </a:p>
        </p:txBody>
      </p:sp>
      <p:sp>
        <p:nvSpPr>
          <p:cNvPr id="16" name="package icon circle"/>
          <p:cNvSpPr/>
          <p:nvPr/>
        </p:nvSpPr>
        <p:spPr>
          <a:xfrm>
            <a:off x="8001000" y="246888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ackage icon" descr="package icon"/>
          <p:cNvPicPr>
            <a:picLocks noChangeAspect="1"/>
          </p:cNvPicPr>
          <p:nvPr/>
        </p:nvPicPr>
        <p:blipFill>
          <a:blip r:embed="rId3"/>
          <a:stretch>
            <a:fillRect/>
          </a:stretch>
        </p:blipFill>
        <p:spPr>
          <a:xfrm>
            <a:off x="8101583" y="2569464"/>
            <a:ext cx="256032" cy="256032"/>
          </a:xfrm>
          <a:prstGeom prst="rect">
            <a:avLst/>
          </a:prstGeom>
        </p:spPr>
      </p:pic>
      <p:sp>
        <p:nvSpPr>
          <p:cNvPr id="18" name="TextBox 17"/>
          <p:cNvSpPr txBox="1"/>
          <p:nvPr/>
        </p:nvSpPr>
        <p:spPr>
          <a:xfrm>
            <a:off x="8641080" y="2432304"/>
            <a:ext cx="2834640" cy="320040"/>
          </a:xfrm>
          <a:prstGeom prst="rect">
            <a:avLst/>
          </a:prstGeom>
          <a:noFill/>
        </p:spPr>
        <p:txBody>
          <a:bodyPr wrap="square" lIns="0" rIns="0" tIns="0" bIns="0" anchor="t">
            <a:noAutofit/>
          </a:bodyPr>
          <a:lstStyle/>
          <a:p>
            <a:pPr algn="l">
              <a:spcAft>
                <a:spcPts val="0"/>
              </a:spcAft>
            </a:pPr>
            <a:r>
              <a:rPr sz="1500" b="1">
                <a:solidFill>
                  <a:schemeClr val="tx1"/>
                </a:solidFill>
              </a:rPr>
              <a:t>No installs</a:t>
            </a:r>
          </a:p>
        </p:txBody>
      </p:sp>
      <p:sp>
        <p:nvSpPr>
          <p:cNvPr id="19" name="TextBox 18"/>
          <p:cNvSpPr txBox="1"/>
          <p:nvPr/>
        </p:nvSpPr>
        <p:spPr>
          <a:xfrm>
            <a:off x="8641080" y="2743200"/>
            <a:ext cx="2834640" cy="548640"/>
          </a:xfrm>
          <a:prstGeom prst="rect">
            <a:avLst/>
          </a:prstGeom>
          <a:noFill/>
        </p:spPr>
        <p:txBody>
          <a:bodyPr wrap="square" lIns="0" rIns="0" tIns="0" bIns="0" anchor="t">
            <a:noAutofit/>
          </a:bodyPr>
          <a:lstStyle/>
          <a:p>
            <a:pPr algn="l">
              <a:spcAft>
                <a:spcPts val="0"/>
              </a:spcAft>
            </a:pPr>
            <a:r>
              <a:rPr sz="1300" b="0">
                <a:solidFill>
                  <a:srgbClr val="3A4256"/>
                </a:solidFill>
              </a:rPr>
              <a:t>Pure Python; reads .evtx with Windows’ own wevtutil</a:t>
            </a:r>
          </a:p>
        </p:txBody>
      </p:sp>
      <p:sp>
        <p:nvSpPr>
          <p:cNvPr id="20" name="lock icon circle"/>
          <p:cNvSpPr/>
          <p:nvPr/>
        </p:nvSpPr>
        <p:spPr>
          <a:xfrm>
            <a:off x="8001000" y="34290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lock icon" descr="lock icon"/>
          <p:cNvPicPr>
            <a:picLocks noChangeAspect="1"/>
          </p:cNvPicPr>
          <p:nvPr/>
        </p:nvPicPr>
        <p:blipFill>
          <a:blip r:embed="rId4"/>
          <a:stretch>
            <a:fillRect/>
          </a:stretch>
        </p:blipFill>
        <p:spPr>
          <a:xfrm>
            <a:off x="8101583" y="3529584"/>
            <a:ext cx="256032" cy="256032"/>
          </a:xfrm>
          <a:prstGeom prst="rect">
            <a:avLst/>
          </a:prstGeom>
        </p:spPr>
      </p:pic>
      <p:sp>
        <p:nvSpPr>
          <p:cNvPr id="22" name="TextBox 21"/>
          <p:cNvSpPr txBox="1"/>
          <p:nvPr/>
        </p:nvSpPr>
        <p:spPr>
          <a:xfrm>
            <a:off x="8641080" y="3392424"/>
            <a:ext cx="2834640" cy="320040"/>
          </a:xfrm>
          <a:prstGeom prst="rect">
            <a:avLst/>
          </a:prstGeom>
          <a:noFill/>
        </p:spPr>
        <p:txBody>
          <a:bodyPr wrap="square" lIns="0" rIns="0" tIns="0" bIns="0" anchor="t">
            <a:noAutofit/>
          </a:bodyPr>
          <a:lstStyle/>
          <a:p>
            <a:pPr algn="l">
              <a:spcAft>
                <a:spcPts val="0"/>
              </a:spcAft>
            </a:pPr>
            <a:r>
              <a:rPr sz="1500" b="1">
                <a:solidFill>
                  <a:schemeClr val="tx1"/>
                </a:solidFill>
              </a:rPr>
              <a:t>Local only</a:t>
            </a:r>
          </a:p>
        </p:txBody>
      </p:sp>
      <p:sp>
        <p:nvSpPr>
          <p:cNvPr id="23" name="TextBox 22"/>
          <p:cNvSpPr txBox="1"/>
          <p:nvPr/>
        </p:nvSpPr>
        <p:spPr>
          <a:xfrm>
            <a:off x="8641080" y="3703320"/>
            <a:ext cx="2834640" cy="548640"/>
          </a:xfrm>
          <a:prstGeom prst="rect">
            <a:avLst/>
          </a:prstGeom>
          <a:noFill/>
        </p:spPr>
        <p:txBody>
          <a:bodyPr wrap="square" lIns="0" rIns="0" tIns="0" bIns="0" anchor="t">
            <a:noAutofit/>
          </a:bodyPr>
          <a:lstStyle/>
          <a:p>
            <a:pPr algn="l">
              <a:spcAft>
                <a:spcPts val="0"/>
              </a:spcAft>
            </a:pPr>
            <a:r>
              <a:rPr sz="1300" b="0">
                <a:solidFill>
                  <a:srgbClr val="3A4256"/>
                </a:solidFill>
              </a:rPr>
              <a:t>Runs on 127.0.0.1 — no data leaves the PC</a:t>
            </a:r>
          </a:p>
        </p:txBody>
      </p:sp>
      <p:sp>
        <p:nvSpPr>
          <p:cNvPr id="24" name="eye icon circle"/>
          <p:cNvSpPr/>
          <p:nvPr/>
        </p:nvSpPr>
        <p:spPr>
          <a:xfrm>
            <a:off x="8001000" y="438912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eye icon" descr="eye icon"/>
          <p:cNvPicPr>
            <a:picLocks noChangeAspect="1"/>
          </p:cNvPicPr>
          <p:nvPr/>
        </p:nvPicPr>
        <p:blipFill>
          <a:blip r:embed="rId5"/>
          <a:stretch>
            <a:fillRect/>
          </a:stretch>
        </p:blipFill>
        <p:spPr>
          <a:xfrm>
            <a:off x="8101583" y="4489704"/>
            <a:ext cx="256032" cy="256032"/>
          </a:xfrm>
          <a:prstGeom prst="rect">
            <a:avLst/>
          </a:prstGeom>
        </p:spPr>
      </p:pic>
      <p:sp>
        <p:nvSpPr>
          <p:cNvPr id="26" name="TextBox 25"/>
          <p:cNvSpPr txBox="1"/>
          <p:nvPr/>
        </p:nvSpPr>
        <p:spPr>
          <a:xfrm>
            <a:off x="8641080" y="4352544"/>
            <a:ext cx="2834640" cy="320040"/>
          </a:xfrm>
          <a:prstGeom prst="rect">
            <a:avLst/>
          </a:prstGeom>
          <a:noFill/>
        </p:spPr>
        <p:txBody>
          <a:bodyPr wrap="square" lIns="0" rIns="0" tIns="0" bIns="0" anchor="t">
            <a:noAutofit/>
          </a:bodyPr>
          <a:lstStyle/>
          <a:p>
            <a:pPr algn="l">
              <a:spcAft>
                <a:spcPts val="0"/>
              </a:spcAft>
            </a:pPr>
            <a:r>
              <a:rPr sz="1500" b="1">
                <a:solidFill>
                  <a:schemeClr val="tx1"/>
                </a:solidFill>
              </a:rPr>
              <a:t>Explainable</a:t>
            </a:r>
          </a:p>
        </p:txBody>
      </p:sp>
      <p:sp>
        <p:nvSpPr>
          <p:cNvPr id="27" name="TextBox 26"/>
          <p:cNvSpPr txBox="1"/>
          <p:nvPr/>
        </p:nvSpPr>
        <p:spPr>
          <a:xfrm>
            <a:off x="8641080" y="4663440"/>
            <a:ext cx="2834640" cy="548640"/>
          </a:xfrm>
          <a:prstGeom prst="rect">
            <a:avLst/>
          </a:prstGeom>
          <a:noFill/>
        </p:spPr>
        <p:txBody>
          <a:bodyPr wrap="square" lIns="0" rIns="0" tIns="0" bIns="0" anchor="t">
            <a:noAutofit/>
          </a:bodyPr>
          <a:lstStyle/>
          <a:p>
            <a:pPr algn="l">
              <a:spcAft>
                <a:spcPts val="0"/>
              </a:spcAft>
            </a:pPr>
            <a:r>
              <a:rPr sz="1300" b="0">
                <a:solidFill>
                  <a:srgbClr val="3A4256"/>
                </a:solidFill>
              </a:rPr>
              <a:t>Every verdict shows its evidence and what’s missing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From customer logs to a verdict in five steps</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HOW TO USE IT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4</a:t>
            </a:r>
          </a:p>
        </p:txBody>
      </p:sp>
      <p:sp>
        <p:nvSpPr>
          <p:cNvPr id="5" name="Collect the logs card"/>
          <p:cNvSpPr/>
          <p:nvPr/>
        </p:nvSpPr>
        <p:spPr>
          <a:xfrm>
            <a:off x="548640" y="1691640"/>
            <a:ext cx="2029968" cy="2423160"/>
          </a:xfrm>
          <a:prstGeom prst="roundRect">
            <a:avLst>
              <a:gd name="adj" fmla="val 630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ep 1"/>
          <p:cNvSpPr/>
          <p:nvPr/>
        </p:nvSpPr>
        <p:spPr>
          <a:xfrm>
            <a:off x="777240" y="19202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a:solidFill>
                  <a:schemeClr val="bg1"/>
                </a:solidFill>
              </a:rPr>
              <a:t>1</a:t>
            </a:r>
          </a:p>
        </p:txBody>
      </p:sp>
      <p:sp>
        <p:nvSpPr>
          <p:cNvPr id="7" name="Collect the logs heading"/>
          <p:cNvSpPr txBox="1"/>
          <p:nvPr/>
        </p:nvSpPr>
        <p:spPr>
          <a:xfrm>
            <a:off x="777240" y="2514600"/>
            <a:ext cx="1645920" cy="548640"/>
          </a:xfrm>
          <a:prstGeom prst="rect">
            <a:avLst/>
          </a:prstGeom>
          <a:noFill/>
        </p:spPr>
        <p:txBody>
          <a:bodyPr wrap="square" lIns="0" rIns="0" tIns="0" bIns="0" anchor="t">
            <a:noAutofit/>
          </a:bodyPr>
          <a:lstStyle/>
          <a:p>
            <a:pPr algn="l">
              <a:spcAft>
                <a:spcPts val="0"/>
              </a:spcAft>
            </a:pPr>
            <a:r>
              <a:rPr sz="1600" b="1">
                <a:solidFill>
                  <a:schemeClr val="tx1"/>
                </a:solidFill>
              </a:rPr>
              <a:t>Collect the logs</a:t>
            </a:r>
          </a:p>
        </p:txBody>
      </p:sp>
      <p:sp>
        <p:nvSpPr>
          <p:cNvPr id="8" name="Collect the logs body"/>
          <p:cNvSpPr txBox="1"/>
          <p:nvPr/>
        </p:nvSpPr>
        <p:spPr>
          <a:xfrm>
            <a:off x="777240" y="3108960"/>
            <a:ext cx="1645920" cy="914400"/>
          </a:xfrm>
          <a:prstGeom prst="rect">
            <a:avLst/>
          </a:prstGeom>
          <a:noFill/>
        </p:spPr>
        <p:txBody>
          <a:bodyPr wrap="square" lIns="0" rIns="0" tIns="0" bIns="0" anchor="t">
            <a:noAutofit/>
          </a:bodyPr>
          <a:lstStyle/>
          <a:p>
            <a:pPr algn="l">
              <a:spcAft>
                <a:spcPts val="0"/>
              </a:spcAft>
            </a:pPr>
            <a:r>
              <a:rPr sz="1400" b="0">
                <a:solidFill>
                  <a:srgbClr val="3A4256"/>
                </a:solidFill>
              </a:rPr>
              <a:t>Export them from the customer’s machine</a:t>
            </a:r>
          </a:p>
        </p:txBody>
      </p:sp>
      <p:sp>
        <p:nvSpPr>
          <p:cNvPr id="9" name="Start WELA card"/>
          <p:cNvSpPr/>
          <p:nvPr/>
        </p:nvSpPr>
        <p:spPr>
          <a:xfrm>
            <a:off x="2807208" y="1691640"/>
            <a:ext cx="2029968" cy="2423160"/>
          </a:xfrm>
          <a:prstGeom prst="roundRect">
            <a:avLst>
              <a:gd name="adj" fmla="val 630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2"/>
          <p:cNvSpPr/>
          <p:nvPr/>
        </p:nvSpPr>
        <p:spPr>
          <a:xfrm>
            <a:off x="3035808" y="19202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a:solidFill>
                  <a:schemeClr val="bg1"/>
                </a:solidFill>
              </a:rPr>
              <a:t>2</a:t>
            </a:r>
          </a:p>
        </p:txBody>
      </p:sp>
      <p:sp>
        <p:nvSpPr>
          <p:cNvPr id="11" name="Start WELA heading"/>
          <p:cNvSpPr txBox="1"/>
          <p:nvPr/>
        </p:nvSpPr>
        <p:spPr>
          <a:xfrm>
            <a:off x="3035808" y="2514600"/>
            <a:ext cx="1645920" cy="548640"/>
          </a:xfrm>
          <a:prstGeom prst="rect">
            <a:avLst/>
          </a:prstGeom>
          <a:noFill/>
        </p:spPr>
        <p:txBody>
          <a:bodyPr wrap="square" lIns="0" rIns="0" tIns="0" bIns="0" anchor="t">
            <a:noAutofit/>
          </a:bodyPr>
          <a:lstStyle/>
          <a:p>
            <a:pPr algn="l">
              <a:spcAft>
                <a:spcPts val="0"/>
              </a:spcAft>
            </a:pPr>
            <a:r>
              <a:rPr sz="1600" b="1">
                <a:solidFill>
                  <a:schemeClr val="tx1"/>
                </a:solidFill>
              </a:rPr>
              <a:t>Start WELA</a:t>
            </a:r>
          </a:p>
        </p:txBody>
      </p:sp>
      <p:sp>
        <p:nvSpPr>
          <p:cNvPr id="12" name="Start WELA body"/>
          <p:cNvSpPr txBox="1"/>
          <p:nvPr/>
        </p:nvSpPr>
        <p:spPr>
          <a:xfrm>
            <a:off x="3035808" y="3108960"/>
            <a:ext cx="1645920" cy="914400"/>
          </a:xfrm>
          <a:prstGeom prst="rect">
            <a:avLst/>
          </a:prstGeom>
          <a:noFill/>
        </p:spPr>
        <p:txBody>
          <a:bodyPr wrap="square" lIns="0" rIns="0" tIns="0" bIns="0" anchor="t">
            <a:noAutofit/>
          </a:bodyPr>
          <a:lstStyle/>
          <a:p>
            <a:pPr algn="l">
              <a:spcAft>
                <a:spcPts val="0"/>
              </a:spcAft>
            </a:pPr>
            <a:r>
              <a:rPr sz="1400" b="0">
                <a:solidFill>
                  <a:srgbClr val="3A4256"/>
                </a:solidFill>
              </a:rPr>
              <a:t>Run </a:t>
            </a:r>
            <a:r>
              <a:rPr sz="1300" b="0">
                <a:solidFill>
                  <a:srgbClr val="3A4256"/>
                </a:solidFill>
                <a:latin typeface="Courier New"/>
              </a:rPr>
              <a:t>run_wela.py</a:t>
            </a:r>
            <a:r>
              <a:rPr sz="1400" b="0">
                <a:solidFill>
                  <a:srgbClr val="3A4256"/>
                </a:solidFill>
              </a:rPr>
              <a:t>; the app opens in your browser</a:t>
            </a:r>
          </a:p>
        </p:txBody>
      </p:sp>
      <p:sp>
        <p:nvSpPr>
          <p:cNvPr id="13" name="Point it at the logs card"/>
          <p:cNvSpPr/>
          <p:nvPr/>
        </p:nvSpPr>
        <p:spPr>
          <a:xfrm>
            <a:off x="5065776" y="1691640"/>
            <a:ext cx="2029968" cy="2423160"/>
          </a:xfrm>
          <a:prstGeom prst="roundRect">
            <a:avLst>
              <a:gd name="adj" fmla="val 630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3"/>
          <p:cNvSpPr/>
          <p:nvPr/>
        </p:nvSpPr>
        <p:spPr>
          <a:xfrm>
            <a:off x="5294376" y="19202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a:solidFill>
                  <a:schemeClr val="bg1"/>
                </a:solidFill>
              </a:rPr>
              <a:t>3</a:t>
            </a:r>
          </a:p>
        </p:txBody>
      </p:sp>
      <p:sp>
        <p:nvSpPr>
          <p:cNvPr id="15" name="Point it at the logs heading"/>
          <p:cNvSpPr txBox="1"/>
          <p:nvPr/>
        </p:nvSpPr>
        <p:spPr>
          <a:xfrm>
            <a:off x="5294376" y="2514600"/>
            <a:ext cx="1645920" cy="548640"/>
          </a:xfrm>
          <a:prstGeom prst="rect">
            <a:avLst/>
          </a:prstGeom>
          <a:noFill/>
        </p:spPr>
        <p:txBody>
          <a:bodyPr wrap="square" lIns="0" rIns="0" tIns="0" bIns="0" anchor="t">
            <a:noAutofit/>
          </a:bodyPr>
          <a:lstStyle/>
          <a:p>
            <a:pPr algn="l">
              <a:spcAft>
                <a:spcPts val="0"/>
              </a:spcAft>
            </a:pPr>
            <a:r>
              <a:rPr sz="1600" b="1">
                <a:solidFill>
                  <a:schemeClr val="tx1"/>
                </a:solidFill>
              </a:rPr>
              <a:t>Point it at the logs</a:t>
            </a:r>
          </a:p>
        </p:txBody>
      </p:sp>
      <p:sp>
        <p:nvSpPr>
          <p:cNvPr id="16" name="Point it at the logs body"/>
          <p:cNvSpPr txBox="1"/>
          <p:nvPr/>
        </p:nvSpPr>
        <p:spPr>
          <a:xfrm>
            <a:off x="5294376" y="3108960"/>
            <a:ext cx="1645920" cy="914400"/>
          </a:xfrm>
          <a:prstGeom prst="rect">
            <a:avLst/>
          </a:prstGeom>
          <a:noFill/>
        </p:spPr>
        <p:txBody>
          <a:bodyPr wrap="square" lIns="0" rIns="0" tIns="0" bIns="0" anchor="t">
            <a:noAutofit/>
          </a:bodyPr>
          <a:lstStyle/>
          <a:p>
            <a:pPr algn="l">
              <a:spcAft>
                <a:spcPts val="0"/>
              </a:spcAft>
            </a:pPr>
            <a:r>
              <a:rPr sz="1400" b="0">
                <a:solidFill>
                  <a:srgbClr val="3A4256"/>
                </a:solidFill>
              </a:rPr>
              <a:t>Paste the folder or files and click Analyze</a:t>
            </a:r>
          </a:p>
        </p:txBody>
      </p:sp>
      <p:sp>
        <p:nvSpPr>
          <p:cNvPr id="17" name="Review the verdicts card"/>
          <p:cNvSpPr/>
          <p:nvPr/>
        </p:nvSpPr>
        <p:spPr>
          <a:xfrm>
            <a:off x="7324344" y="1691640"/>
            <a:ext cx="2029968" cy="2423160"/>
          </a:xfrm>
          <a:prstGeom prst="roundRect">
            <a:avLst>
              <a:gd name="adj" fmla="val 630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ep 4"/>
          <p:cNvSpPr/>
          <p:nvPr/>
        </p:nvSpPr>
        <p:spPr>
          <a:xfrm>
            <a:off x="7552944" y="19202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a:solidFill>
                  <a:schemeClr val="bg1"/>
                </a:solidFill>
              </a:rPr>
              <a:t>4</a:t>
            </a:r>
          </a:p>
        </p:txBody>
      </p:sp>
      <p:sp>
        <p:nvSpPr>
          <p:cNvPr id="19" name="Review the verdicts heading"/>
          <p:cNvSpPr txBox="1"/>
          <p:nvPr/>
        </p:nvSpPr>
        <p:spPr>
          <a:xfrm>
            <a:off x="7552944" y="2514600"/>
            <a:ext cx="1645920" cy="548640"/>
          </a:xfrm>
          <a:prstGeom prst="rect">
            <a:avLst/>
          </a:prstGeom>
          <a:noFill/>
        </p:spPr>
        <p:txBody>
          <a:bodyPr wrap="square" lIns="0" rIns="0" tIns="0" bIns="0" anchor="t">
            <a:noAutofit/>
          </a:bodyPr>
          <a:lstStyle/>
          <a:p>
            <a:pPr algn="l">
              <a:spcAft>
                <a:spcPts val="0"/>
              </a:spcAft>
            </a:pPr>
            <a:r>
              <a:rPr sz="1600" b="1">
                <a:solidFill>
                  <a:schemeClr val="tx1"/>
                </a:solidFill>
              </a:rPr>
              <a:t>Review the verdicts</a:t>
            </a:r>
          </a:p>
        </p:txBody>
      </p:sp>
      <p:sp>
        <p:nvSpPr>
          <p:cNvPr id="20" name="Review the verdicts body"/>
          <p:cNvSpPr txBox="1"/>
          <p:nvPr/>
        </p:nvSpPr>
        <p:spPr>
          <a:xfrm>
            <a:off x="7552944" y="3108960"/>
            <a:ext cx="1645920" cy="914400"/>
          </a:xfrm>
          <a:prstGeom prst="rect">
            <a:avLst/>
          </a:prstGeom>
          <a:noFill/>
        </p:spPr>
        <p:txBody>
          <a:bodyPr wrap="square" lIns="0" rIns="0" tIns="0" bIns="0" anchor="t">
            <a:noAutofit/>
          </a:bodyPr>
          <a:lstStyle/>
          <a:p>
            <a:pPr algn="l">
              <a:spcAft>
                <a:spcPts val="0"/>
              </a:spcAft>
            </a:pPr>
            <a:r>
              <a:rPr sz="1400" b="0">
                <a:solidFill>
                  <a:srgbClr val="3A4256"/>
                </a:solidFill>
              </a:rPr>
              <a:t>Start with Needs review and Drive suspected</a:t>
            </a:r>
          </a:p>
        </p:txBody>
      </p:sp>
      <p:sp>
        <p:nvSpPr>
          <p:cNvPr id="21" name="Export for the claim card"/>
          <p:cNvSpPr/>
          <p:nvPr/>
        </p:nvSpPr>
        <p:spPr>
          <a:xfrm>
            <a:off x="9582912" y="1691640"/>
            <a:ext cx="2029968" cy="2423160"/>
          </a:xfrm>
          <a:prstGeom prst="roundRect">
            <a:avLst>
              <a:gd name="adj" fmla="val 6306"/>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ep 5"/>
          <p:cNvSpPr/>
          <p:nvPr/>
        </p:nvSpPr>
        <p:spPr>
          <a:xfrm>
            <a:off x="9811512" y="19202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600" b="1">
                <a:solidFill>
                  <a:schemeClr val="bg1"/>
                </a:solidFill>
              </a:rPr>
              <a:t>5</a:t>
            </a:r>
          </a:p>
        </p:txBody>
      </p:sp>
      <p:sp>
        <p:nvSpPr>
          <p:cNvPr id="23" name="Export for the claim heading"/>
          <p:cNvSpPr txBox="1"/>
          <p:nvPr/>
        </p:nvSpPr>
        <p:spPr>
          <a:xfrm>
            <a:off x="9811512" y="2514600"/>
            <a:ext cx="1645920" cy="548640"/>
          </a:xfrm>
          <a:prstGeom prst="rect">
            <a:avLst/>
          </a:prstGeom>
          <a:noFill/>
        </p:spPr>
        <p:txBody>
          <a:bodyPr wrap="square" lIns="0" rIns="0" tIns="0" bIns="0" anchor="t">
            <a:noAutofit/>
          </a:bodyPr>
          <a:lstStyle/>
          <a:p>
            <a:pPr algn="l">
              <a:spcAft>
                <a:spcPts val="0"/>
              </a:spcAft>
            </a:pPr>
            <a:r>
              <a:rPr sz="1600" b="1">
                <a:solidFill>
                  <a:schemeClr val="tx1"/>
                </a:solidFill>
              </a:rPr>
              <a:t>Export for the claim</a:t>
            </a:r>
          </a:p>
        </p:txBody>
      </p:sp>
      <p:sp>
        <p:nvSpPr>
          <p:cNvPr id="24" name="Export for the claim body"/>
          <p:cNvSpPr txBox="1"/>
          <p:nvPr/>
        </p:nvSpPr>
        <p:spPr>
          <a:xfrm>
            <a:off x="9811512" y="3108960"/>
            <a:ext cx="1645920" cy="914400"/>
          </a:xfrm>
          <a:prstGeom prst="rect">
            <a:avLst/>
          </a:prstGeom>
          <a:noFill/>
        </p:spPr>
        <p:txBody>
          <a:bodyPr wrap="square" lIns="0" rIns="0" tIns="0" bIns="0" anchor="t">
            <a:noAutofit/>
          </a:bodyPr>
          <a:lstStyle/>
          <a:p>
            <a:pPr algn="l">
              <a:spcAft>
                <a:spcPts val="0"/>
              </a:spcAft>
            </a:pPr>
            <a:r>
              <a:rPr sz="1400" b="0">
                <a:solidFill>
                  <a:srgbClr val="3A4256"/>
                </a:solidFill>
              </a:rPr>
              <a:t>Excel or HTML, ready to attach to the claim</a:t>
            </a:r>
          </a:p>
        </p:txBody>
      </p:sp>
      <p:sp>
        <p:nvSpPr>
          <p:cNvPr id="25" name="Commands panel"/>
          <p:cNvSpPr/>
          <p:nvPr/>
        </p:nvSpPr>
        <p:spPr>
          <a:xfrm>
            <a:off x="548640" y="4389120"/>
            <a:ext cx="7726679" cy="16002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526280"/>
            <a:ext cx="7223760" cy="320040"/>
          </a:xfrm>
          <a:prstGeom prst="rect">
            <a:avLst/>
          </a:prstGeom>
          <a:noFill/>
        </p:spPr>
        <p:txBody>
          <a:bodyPr wrap="square" lIns="0" rIns="0" tIns="0" bIns="0" anchor="t">
            <a:noAutofit/>
          </a:bodyPr>
          <a:lstStyle/>
          <a:p>
            <a:pPr algn="l">
              <a:spcAft>
                <a:spcPts val="0"/>
              </a:spcAft>
            </a:pPr>
            <a:r>
              <a:rPr sz="1200" b="0">
                <a:solidFill>
                  <a:srgbClr val="B9C2DA"/>
                </a:solidFill>
              </a:rPr>
              <a:t>Run on the customer’s machine (the Partition log adds drive model, firmware and serial):</a:t>
            </a:r>
          </a:p>
        </p:txBody>
      </p:sp>
      <p:sp>
        <p:nvSpPr>
          <p:cNvPr id="27" name="Commands"/>
          <p:cNvSpPr txBox="1"/>
          <p:nvPr/>
        </p:nvSpPr>
        <p:spPr>
          <a:xfrm>
            <a:off x="822960" y="4892040"/>
            <a:ext cx="7223760" cy="960120"/>
          </a:xfrm>
          <a:prstGeom prst="rect">
            <a:avLst/>
          </a:prstGeom>
          <a:noFill/>
        </p:spPr>
        <p:txBody>
          <a:bodyPr wrap="square" lIns="0" rIns="0" tIns="0" bIns="0" anchor="t">
            <a:noAutofit/>
          </a:bodyPr>
          <a:lstStyle/>
          <a:p>
            <a:pPr algn="l">
              <a:spcAft>
                <a:spcPts val="0"/>
              </a:spcAft>
            </a:pPr>
            <a:r>
              <a:rPr sz="1200" b="0">
                <a:solidFill>
                  <a:schemeClr val="bg1"/>
                </a:solidFill>
                <a:latin typeface="Courier New"/>
              </a:rPr>
              <a:t>wevtutil epl System System.evtx</a:t>
            </a:r>
          </a:p>
          <a:p>
            <a:pPr algn="l">
              <a:spcAft>
                <a:spcPts val="0"/>
              </a:spcAft>
            </a:pPr>
            <a:r>
              <a:rPr sz="1200" b="0">
                <a:solidFill>
                  <a:schemeClr val="bg1"/>
                </a:solidFill>
                <a:latin typeface="Courier New"/>
              </a:rPr>
              <a:t>wevtutil epl Application Application.evtx</a:t>
            </a:r>
          </a:p>
          <a:p>
            <a:pPr algn="l">
              <a:spcAft>
                <a:spcPts val="0"/>
              </a:spcAft>
            </a:pPr>
            <a:r>
              <a:rPr sz="1200" b="0">
                <a:solidFill>
                  <a:schemeClr val="bg1"/>
                </a:solidFill>
                <a:latin typeface="Courier New"/>
              </a:rPr>
              <a:t>wevtutil epl Microsoft-Windows-Storage-Storport/Operational Storport.evtx</a:t>
            </a:r>
          </a:p>
          <a:p>
            <a:pPr algn="l">
              <a:spcAft>
                <a:spcPts val="0"/>
              </a:spcAft>
            </a:pPr>
            <a:r>
              <a:rPr sz="1200" b="0">
                <a:solidFill>
                  <a:schemeClr val="bg1"/>
                </a:solidFill>
                <a:latin typeface="Courier New"/>
              </a:rPr>
              <a:t>wevtutil epl Microsoft-Windows-Partition/Diagnostic Partition.evtx</a:t>
            </a:r>
          </a:p>
        </p:txBody>
      </p:sp>
      <p:sp>
        <p:nvSpPr>
          <p:cNvPr id="28" name="Demo card"/>
          <p:cNvSpPr/>
          <p:nvPr/>
        </p:nvSpPr>
        <p:spPr>
          <a:xfrm>
            <a:off x="8503920" y="4389120"/>
            <a:ext cx="3136392" cy="1600200"/>
          </a:xfrm>
          <a:prstGeom prst="roundRect">
            <a:avLst>
              <a:gd name="adj" fmla="val 8000"/>
            </a:avLst>
          </a:prstGeom>
          <a:solidFill>
            <a:srgbClr val="E8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lay icon circle"/>
          <p:cNvSpPr/>
          <p:nvPr/>
        </p:nvSpPr>
        <p:spPr>
          <a:xfrm>
            <a:off x="8778240" y="4572000"/>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lay icon" descr="play icon"/>
          <p:cNvPicPr>
            <a:picLocks noChangeAspect="1"/>
          </p:cNvPicPr>
          <p:nvPr/>
        </p:nvPicPr>
        <p:blipFill>
          <a:blip r:embed="rId3"/>
          <a:stretch>
            <a:fillRect/>
          </a:stretch>
        </p:blipFill>
        <p:spPr>
          <a:xfrm>
            <a:off x="8903969" y="4697730"/>
            <a:ext cx="251460" cy="251460"/>
          </a:xfrm>
          <a:prstGeom prst="rect">
            <a:avLst/>
          </a:prstGeom>
        </p:spPr>
      </p:pic>
      <p:sp>
        <p:nvSpPr>
          <p:cNvPr id="31" name="TextBox 30"/>
          <p:cNvSpPr txBox="1"/>
          <p:nvPr/>
        </p:nvSpPr>
        <p:spPr>
          <a:xfrm>
            <a:off x="9418320" y="4617720"/>
            <a:ext cx="2011680" cy="411480"/>
          </a:xfrm>
          <a:prstGeom prst="rect">
            <a:avLst/>
          </a:prstGeom>
          <a:noFill/>
        </p:spPr>
        <p:txBody>
          <a:bodyPr wrap="square" lIns="0" rIns="0" tIns="0" bIns="0" anchor="ctr">
            <a:noAutofit/>
          </a:bodyPr>
          <a:lstStyle/>
          <a:p>
            <a:pPr algn="l">
              <a:spcAft>
                <a:spcPts val="0"/>
              </a:spcAft>
            </a:pPr>
            <a:r>
              <a:rPr sz="1600" b="1">
                <a:solidFill>
                  <a:schemeClr val="tx1"/>
                </a:solidFill>
              </a:rPr>
              <a:t>Try it now</a:t>
            </a:r>
          </a:p>
        </p:txBody>
      </p:sp>
      <p:sp>
        <p:nvSpPr>
          <p:cNvPr id="32" name="TextBox 31"/>
          <p:cNvSpPr txBox="1"/>
          <p:nvPr/>
        </p:nvSpPr>
        <p:spPr>
          <a:xfrm>
            <a:off x="8778240" y="5193792"/>
            <a:ext cx="2606040" cy="731520"/>
          </a:xfrm>
          <a:prstGeom prst="rect">
            <a:avLst/>
          </a:prstGeom>
          <a:noFill/>
        </p:spPr>
        <p:txBody>
          <a:bodyPr wrap="square" lIns="0" rIns="0" tIns="0" bIns="0" anchor="t">
            <a:noAutofit/>
          </a:bodyPr>
          <a:lstStyle/>
          <a:p>
            <a:pPr algn="l">
              <a:spcAft>
                <a:spcPts val="0"/>
              </a:spcAft>
            </a:pPr>
            <a:r>
              <a:rPr sz="1400" b="1">
                <a:solidFill>
                  <a:srgbClr val="3A4256"/>
                </a:solidFill>
              </a:rPr>
              <a:t>Try demo data</a:t>
            </a:r>
            <a:r>
              <a:rPr sz="1400" b="0">
                <a:solidFill>
                  <a:srgbClr val="3A4256"/>
                </a:solidFill>
              </a:rPr>
              <a:t> loads a made-up case with every tricky scenario.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title"/>
          </p:nvPr>
        </p:nvSpPr>
        <p:spPr>
          <a:xfrm>
            <a:off x="822960" y="2788920"/>
            <a:ext cx="10424160" cy="914400"/>
          </a:xfrm>
        </p:spPr>
        <p:txBody>
          <a:bodyPr wrap="square" lIns="0" rIns="0" tIns="0" bIns="0" anchor="t">
            <a:noAutofit/>
          </a:bodyPr>
          <a:lstStyle/>
          <a:p>
            <a:pPr algn="l">
              <a:spcAft>
                <a:spcPts val="0"/>
              </a:spcAft>
            </a:pPr>
            <a:r>
              <a:rPr sz="4000" b="1">
                <a:solidFill>
                  <a:schemeClr val="bg1"/>
                </a:solidFill>
              </a:rPr>
              <a:t>How WELA reads the logs</a:t>
            </a:r>
          </a:p>
        </p:txBody>
      </p:sp>
      <p:sp>
        <p:nvSpPr>
          <p:cNvPr id="3" name="Section number"/>
          <p:cNvSpPr txBox="1"/>
          <p:nvPr/>
        </p:nvSpPr>
        <p:spPr>
          <a:xfrm>
            <a:off x="822960" y="1325880"/>
            <a:ext cx="3657600" cy="1371600"/>
          </a:xfrm>
          <a:prstGeom prst="rect">
            <a:avLst/>
          </a:prstGeom>
          <a:noFill/>
        </p:spPr>
        <p:txBody>
          <a:bodyPr wrap="square" lIns="0" rIns="0" tIns="0" bIns="0" anchor="t">
            <a:noAutofit/>
          </a:bodyPr>
          <a:lstStyle/>
          <a:p>
            <a:pPr algn="l">
              <a:spcAft>
                <a:spcPts val="0"/>
              </a:spcAft>
            </a:pPr>
            <a:r>
              <a:rPr sz="8800" b="1">
                <a:solidFill>
                  <a:srgbClr val="8FA2FF"/>
                </a:solidFill>
              </a:rPr>
              <a:t>01</a:t>
            </a:r>
          </a:p>
        </p:txBody>
      </p:sp>
      <p:sp>
        <p:nvSpPr>
          <p:cNvPr id="4" name="Section subtitle"/>
          <p:cNvSpPr txBox="1"/>
          <p:nvPr/>
        </p:nvSpPr>
        <p:spPr>
          <a:xfrm>
            <a:off x="822960" y="3794760"/>
            <a:ext cx="10424160" cy="548640"/>
          </a:xfrm>
          <a:prstGeom prst="rect">
            <a:avLst/>
          </a:prstGeom>
          <a:noFill/>
        </p:spPr>
        <p:txBody>
          <a:bodyPr wrap="square" lIns="0" rIns="0" tIns="0" bIns="0" anchor="t">
            <a:noAutofit/>
          </a:bodyPr>
          <a:lstStyle/>
          <a:p>
            <a:pPr algn="l">
              <a:spcAft>
                <a:spcPts val="0"/>
              </a:spcAft>
            </a:pPr>
            <a:r>
              <a:rPr sz="2000" b="0">
                <a:solidFill>
                  <a:srgbClr val="B9C2DA"/>
                </a:solidFill>
              </a:rPr>
              <a:t>Turning thousands of events into a list of power cycles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Seven steps from raw events to verdicts</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HOW IT WORKS</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6</a:t>
            </a:r>
          </a:p>
        </p:txBody>
      </p:sp>
      <p:cxnSp>
        <p:nvCxnSpPr>
          <p:cNvPr id="5" name="Pipeline line"/>
          <p:cNvCxnSpPr/>
          <p:nvPr/>
        </p:nvCxnSpPr>
        <p:spPr>
          <a:xfrm>
            <a:off x="1280160" y="2125980"/>
            <a:ext cx="9601200" cy="0"/>
          </a:xfrm>
          <a:prstGeom prst="line">
            <a:avLst/>
          </a:prstGeom>
          <a:ln w="31750">
            <a:solidFill>
              <a:srgbClr val="D5DAE5"/>
            </a:solidFill>
          </a:ln>
        </p:spPr>
        <p:style>
          <a:lnRef idx="2">
            <a:schemeClr val="accent1"/>
          </a:lnRef>
          <a:fillRef idx="0">
            <a:schemeClr val="accent1"/>
          </a:fillRef>
          <a:effectRef idx="1">
            <a:schemeClr val="accent1"/>
          </a:effectRef>
          <a:fontRef idx="minor">
            <a:schemeClr val="tx1"/>
          </a:fontRef>
        </p:style>
      </p:cxnSp>
      <p:sp>
        <p:nvSpPr>
          <p:cNvPr id="6" name="Step 1"/>
          <p:cNvSpPr/>
          <p:nvPr/>
        </p:nvSpPr>
        <p:spPr>
          <a:xfrm>
            <a:off x="937259" y="178308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1</a:t>
            </a:r>
          </a:p>
        </p:txBody>
      </p:sp>
      <p:sp>
        <p:nvSpPr>
          <p:cNvPr id="7" name="TextBox 6"/>
          <p:cNvSpPr txBox="1"/>
          <p:nvPr/>
        </p:nvSpPr>
        <p:spPr>
          <a:xfrm>
            <a:off x="548640" y="2651760"/>
            <a:ext cx="1463040" cy="365760"/>
          </a:xfrm>
          <a:prstGeom prst="rect">
            <a:avLst/>
          </a:prstGeom>
          <a:noFill/>
        </p:spPr>
        <p:txBody>
          <a:bodyPr wrap="square" lIns="0" rIns="0" tIns="0" bIns="0" anchor="t">
            <a:noAutofit/>
          </a:bodyPr>
          <a:lstStyle/>
          <a:p>
            <a:pPr algn="ctr">
              <a:spcAft>
                <a:spcPts val="0"/>
              </a:spcAft>
            </a:pPr>
            <a:r>
              <a:rPr sz="1600" b="1">
                <a:solidFill>
                  <a:schemeClr val="tx1"/>
                </a:solidFill>
              </a:rPr>
              <a:t>Merge</a:t>
            </a:r>
          </a:p>
        </p:txBody>
      </p:sp>
      <p:sp>
        <p:nvSpPr>
          <p:cNvPr id="8" name="TextBox 7"/>
          <p:cNvSpPr txBox="1"/>
          <p:nvPr/>
        </p:nvSpPr>
        <p:spPr>
          <a:xfrm>
            <a:off x="548640" y="3044952"/>
            <a:ext cx="1463040" cy="1188720"/>
          </a:xfrm>
          <a:prstGeom prst="rect">
            <a:avLst/>
          </a:prstGeom>
          <a:noFill/>
        </p:spPr>
        <p:txBody>
          <a:bodyPr wrap="square" lIns="0" rIns="0" tIns="0" bIns="0" anchor="t">
            <a:noAutofit/>
          </a:bodyPr>
          <a:lstStyle/>
          <a:p>
            <a:pPr algn="ctr">
              <a:spcAft>
                <a:spcPts val="0"/>
              </a:spcAft>
            </a:pPr>
            <a:r>
              <a:rPr sz="1300" b="0">
                <a:solidFill>
                  <a:srgbClr val="3A4256"/>
                </a:solidFill>
              </a:rPr>
              <a:t>All logs on one UTC timeline</a:t>
            </a:r>
          </a:p>
        </p:txBody>
      </p:sp>
      <p:sp>
        <p:nvSpPr>
          <p:cNvPr id="9" name="Step 2"/>
          <p:cNvSpPr/>
          <p:nvPr/>
        </p:nvSpPr>
        <p:spPr>
          <a:xfrm>
            <a:off x="2537460" y="178308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2</a:t>
            </a:r>
          </a:p>
        </p:txBody>
      </p:sp>
      <p:sp>
        <p:nvSpPr>
          <p:cNvPr id="10" name="TextBox 9"/>
          <p:cNvSpPr txBox="1"/>
          <p:nvPr/>
        </p:nvSpPr>
        <p:spPr>
          <a:xfrm>
            <a:off x="2148840" y="2651760"/>
            <a:ext cx="1463040" cy="365760"/>
          </a:xfrm>
          <a:prstGeom prst="rect">
            <a:avLst/>
          </a:prstGeom>
          <a:noFill/>
        </p:spPr>
        <p:txBody>
          <a:bodyPr wrap="square" lIns="0" rIns="0" tIns="0" bIns="0" anchor="t">
            <a:noAutofit/>
          </a:bodyPr>
          <a:lstStyle/>
          <a:p>
            <a:pPr algn="ctr">
              <a:spcAft>
                <a:spcPts val="0"/>
              </a:spcAft>
            </a:pPr>
            <a:r>
              <a:rPr sz="1600" b="1">
                <a:solidFill>
                  <a:schemeClr val="tx1"/>
                </a:solidFill>
              </a:rPr>
              <a:t>Check</a:t>
            </a:r>
          </a:p>
        </p:txBody>
      </p:sp>
      <p:sp>
        <p:nvSpPr>
          <p:cNvPr id="11" name="TextBox 10"/>
          <p:cNvSpPr txBox="1"/>
          <p:nvPr/>
        </p:nvSpPr>
        <p:spPr>
          <a:xfrm>
            <a:off x="2148840" y="3044952"/>
            <a:ext cx="1463040" cy="1188720"/>
          </a:xfrm>
          <a:prstGeom prst="rect">
            <a:avLst/>
          </a:prstGeom>
          <a:noFill/>
        </p:spPr>
        <p:txBody>
          <a:bodyPr wrap="square" lIns="0" rIns="0" tIns="0" bIns="0" anchor="t">
            <a:noAutofit/>
          </a:bodyPr>
          <a:lstStyle/>
          <a:p>
            <a:pPr algn="ctr">
              <a:spcAft>
                <a:spcPts val="0"/>
              </a:spcAft>
            </a:pPr>
            <a:r>
              <a:rPr sz="1300" b="0">
                <a:solidFill>
                  <a:srgbClr val="3A4256"/>
                </a:solidFill>
              </a:rPr>
              <a:t>Coverage, missing records, cleared logs, clock changes</a:t>
            </a:r>
          </a:p>
        </p:txBody>
      </p:sp>
      <p:sp>
        <p:nvSpPr>
          <p:cNvPr id="12" name="Step 3"/>
          <p:cNvSpPr/>
          <p:nvPr/>
        </p:nvSpPr>
        <p:spPr>
          <a:xfrm>
            <a:off x="4137659" y="178308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3</a:t>
            </a:r>
          </a:p>
        </p:txBody>
      </p:sp>
      <p:sp>
        <p:nvSpPr>
          <p:cNvPr id="13" name="TextBox 12"/>
          <p:cNvSpPr txBox="1"/>
          <p:nvPr/>
        </p:nvSpPr>
        <p:spPr>
          <a:xfrm>
            <a:off x="3749039" y="2651760"/>
            <a:ext cx="1463040" cy="365760"/>
          </a:xfrm>
          <a:prstGeom prst="rect">
            <a:avLst/>
          </a:prstGeom>
          <a:noFill/>
        </p:spPr>
        <p:txBody>
          <a:bodyPr wrap="square" lIns="0" rIns="0" tIns="0" bIns="0" anchor="t">
            <a:noAutofit/>
          </a:bodyPr>
          <a:lstStyle/>
          <a:p>
            <a:pPr algn="ctr">
              <a:spcAft>
                <a:spcPts val="0"/>
              </a:spcAft>
            </a:pPr>
            <a:r>
              <a:rPr sz="1600" b="1">
                <a:solidFill>
                  <a:schemeClr val="tx1"/>
                </a:solidFill>
              </a:rPr>
              <a:t>Find boots</a:t>
            </a:r>
          </a:p>
        </p:txBody>
      </p:sp>
      <p:sp>
        <p:nvSpPr>
          <p:cNvPr id="14" name="TextBox 13"/>
          <p:cNvSpPr txBox="1"/>
          <p:nvPr/>
        </p:nvSpPr>
        <p:spPr>
          <a:xfrm>
            <a:off x="3749039" y="3044952"/>
            <a:ext cx="1463040" cy="1188720"/>
          </a:xfrm>
          <a:prstGeom prst="rect">
            <a:avLst/>
          </a:prstGeom>
          <a:noFill/>
        </p:spPr>
        <p:txBody>
          <a:bodyPr wrap="square" lIns="0" rIns="0" tIns="0" bIns="0" anchor="t">
            <a:noAutofit/>
          </a:bodyPr>
          <a:lstStyle/>
          <a:p>
            <a:pPr algn="ctr">
              <a:spcAft>
                <a:spcPts val="0"/>
              </a:spcAft>
            </a:pPr>
            <a:r>
              <a:rPr sz="1300" b="0">
                <a:solidFill>
                  <a:srgbClr val="3A4256"/>
                </a:solidFill>
              </a:rPr>
              <a:t>Events 12, 6005, 6009, 27 within 3 min = one boot</a:t>
            </a:r>
          </a:p>
        </p:txBody>
      </p:sp>
      <p:sp>
        <p:nvSpPr>
          <p:cNvPr id="15" name="Step 4"/>
          <p:cNvSpPr/>
          <p:nvPr/>
        </p:nvSpPr>
        <p:spPr>
          <a:xfrm>
            <a:off x="5737859" y="178308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4</a:t>
            </a:r>
          </a:p>
        </p:txBody>
      </p:sp>
      <p:sp>
        <p:nvSpPr>
          <p:cNvPr id="16" name="TextBox 15"/>
          <p:cNvSpPr txBox="1"/>
          <p:nvPr/>
        </p:nvSpPr>
        <p:spPr>
          <a:xfrm>
            <a:off x="5349240" y="2651760"/>
            <a:ext cx="1463040" cy="365760"/>
          </a:xfrm>
          <a:prstGeom prst="rect">
            <a:avLst/>
          </a:prstGeom>
          <a:noFill/>
        </p:spPr>
        <p:txBody>
          <a:bodyPr wrap="square" lIns="0" rIns="0" tIns="0" bIns="0" anchor="t">
            <a:noAutofit/>
          </a:bodyPr>
          <a:lstStyle/>
          <a:p>
            <a:pPr algn="ctr">
              <a:spcAft>
                <a:spcPts val="0"/>
              </a:spcAft>
            </a:pPr>
            <a:r>
              <a:rPr sz="1600" b="1">
                <a:solidFill>
                  <a:schemeClr val="tx1"/>
                </a:solidFill>
              </a:rPr>
              <a:t>Classify</a:t>
            </a:r>
          </a:p>
        </p:txBody>
      </p:sp>
      <p:sp>
        <p:nvSpPr>
          <p:cNvPr id="17" name="TextBox 16"/>
          <p:cNvSpPr txBox="1"/>
          <p:nvPr/>
        </p:nvSpPr>
        <p:spPr>
          <a:xfrm>
            <a:off x="5349240" y="3044952"/>
            <a:ext cx="1463040" cy="1188720"/>
          </a:xfrm>
          <a:prstGeom prst="rect">
            <a:avLst/>
          </a:prstGeom>
          <a:noFill/>
        </p:spPr>
        <p:txBody>
          <a:bodyPr wrap="square" lIns="0" rIns="0" tIns="0" bIns="0" anchor="t">
            <a:noAutofit/>
          </a:bodyPr>
          <a:lstStyle/>
          <a:p>
            <a:pPr algn="ctr">
              <a:spcAft>
                <a:spcPts val="0"/>
              </a:spcAft>
            </a:pPr>
            <a:r>
              <a:rPr sz="1300" b="0">
                <a:solidFill>
                  <a:srgbClr val="3A4256"/>
                </a:solidFill>
              </a:rPr>
              <a:t>How did each session end?</a:t>
            </a:r>
          </a:p>
        </p:txBody>
      </p:sp>
      <p:sp>
        <p:nvSpPr>
          <p:cNvPr id="18" name="Step 5"/>
          <p:cNvSpPr/>
          <p:nvPr/>
        </p:nvSpPr>
        <p:spPr>
          <a:xfrm>
            <a:off x="7338060" y="178308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5</a:t>
            </a:r>
          </a:p>
        </p:txBody>
      </p:sp>
      <p:sp>
        <p:nvSpPr>
          <p:cNvPr id="19" name="TextBox 18"/>
          <p:cNvSpPr txBox="1"/>
          <p:nvPr/>
        </p:nvSpPr>
        <p:spPr>
          <a:xfrm>
            <a:off x="6949440" y="2651760"/>
            <a:ext cx="1463040" cy="365760"/>
          </a:xfrm>
          <a:prstGeom prst="rect">
            <a:avLst/>
          </a:prstGeom>
          <a:noFill/>
        </p:spPr>
        <p:txBody>
          <a:bodyPr wrap="square" lIns="0" rIns="0" tIns="0" bIns="0" anchor="t">
            <a:noAutofit/>
          </a:bodyPr>
          <a:lstStyle/>
          <a:p>
            <a:pPr algn="ctr">
              <a:spcAft>
                <a:spcPts val="0"/>
              </a:spcAft>
            </a:pPr>
            <a:r>
              <a:rPr sz="1600" b="1">
                <a:solidFill>
                  <a:schemeClr val="tx1"/>
                </a:solidFill>
              </a:rPr>
              <a:t>Sleep</a:t>
            </a:r>
          </a:p>
        </p:txBody>
      </p:sp>
      <p:sp>
        <p:nvSpPr>
          <p:cNvPr id="20" name="TextBox 19"/>
          <p:cNvSpPr txBox="1"/>
          <p:nvPr/>
        </p:nvSpPr>
        <p:spPr>
          <a:xfrm>
            <a:off x="6949440" y="3044952"/>
            <a:ext cx="1463040" cy="1188720"/>
          </a:xfrm>
          <a:prstGeom prst="rect">
            <a:avLst/>
          </a:prstGeom>
          <a:noFill/>
        </p:spPr>
        <p:txBody>
          <a:bodyPr wrap="square" lIns="0" rIns="0" tIns="0" bIns="0" anchor="t">
            <a:noAutofit/>
          </a:bodyPr>
          <a:lstStyle/>
          <a:p>
            <a:pPr algn="ctr">
              <a:spcAft>
                <a:spcPts val="0"/>
              </a:spcAft>
            </a:pPr>
            <a:r>
              <a:rPr sz="1300" b="0">
                <a:solidFill>
                  <a:srgbClr val="3A4256"/>
                </a:solidFill>
              </a:rPr>
              <a:t>Sleep, hibernate and Modern Standby episodes</a:t>
            </a:r>
          </a:p>
        </p:txBody>
      </p:sp>
      <p:sp>
        <p:nvSpPr>
          <p:cNvPr id="21" name="Step 6"/>
          <p:cNvSpPr/>
          <p:nvPr/>
        </p:nvSpPr>
        <p:spPr>
          <a:xfrm>
            <a:off x="8938260" y="178308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6</a:t>
            </a:r>
          </a:p>
        </p:txBody>
      </p:sp>
      <p:sp>
        <p:nvSpPr>
          <p:cNvPr id="22" name="TextBox 21"/>
          <p:cNvSpPr txBox="1"/>
          <p:nvPr/>
        </p:nvSpPr>
        <p:spPr>
          <a:xfrm>
            <a:off x="8549640" y="2651760"/>
            <a:ext cx="1463040" cy="365760"/>
          </a:xfrm>
          <a:prstGeom prst="rect">
            <a:avLst/>
          </a:prstGeom>
          <a:noFill/>
        </p:spPr>
        <p:txBody>
          <a:bodyPr wrap="square" lIns="0" rIns="0" tIns="0" bIns="0" anchor="t">
            <a:noAutofit/>
          </a:bodyPr>
          <a:lstStyle/>
          <a:p>
            <a:pPr algn="ctr">
              <a:spcAft>
                <a:spcPts val="0"/>
              </a:spcAft>
            </a:pPr>
            <a:r>
              <a:rPr sz="1600" b="1">
                <a:solidFill>
                  <a:schemeClr val="tx1"/>
                </a:solidFill>
              </a:rPr>
              <a:t>Drive</a:t>
            </a:r>
          </a:p>
        </p:txBody>
      </p:sp>
      <p:sp>
        <p:nvSpPr>
          <p:cNvPr id="23" name="TextBox 22"/>
          <p:cNvSpPr txBox="1"/>
          <p:nvPr/>
        </p:nvSpPr>
        <p:spPr>
          <a:xfrm>
            <a:off x="8549640" y="3044952"/>
            <a:ext cx="1463040" cy="1188720"/>
          </a:xfrm>
          <a:prstGeom prst="rect">
            <a:avLst/>
          </a:prstGeom>
          <a:noFill/>
        </p:spPr>
        <p:txBody>
          <a:bodyPr wrap="square" lIns="0" rIns="0" tIns="0" bIns="0" anchor="t">
            <a:noAutofit/>
          </a:bodyPr>
          <a:lstStyle/>
          <a:p>
            <a:pPr algn="ctr">
              <a:spcAft>
                <a:spcPts val="0"/>
              </a:spcAft>
            </a:pPr>
            <a:r>
              <a:rPr sz="1300" b="0">
                <a:solidFill>
                  <a:srgbClr val="3A4256"/>
                </a:solidFill>
              </a:rPr>
              <a:t>Drive events 60 s before power-off and after boot</a:t>
            </a:r>
          </a:p>
        </p:txBody>
      </p:sp>
      <p:sp>
        <p:nvSpPr>
          <p:cNvPr id="24" name="Step 7"/>
          <p:cNvSpPr/>
          <p:nvPr/>
        </p:nvSpPr>
        <p:spPr>
          <a:xfrm>
            <a:off x="10538460" y="178308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2000" b="1">
                <a:solidFill>
                  <a:schemeClr val="bg1"/>
                </a:solidFill>
              </a:rPr>
              <a:t>7</a:t>
            </a:r>
          </a:p>
        </p:txBody>
      </p:sp>
      <p:sp>
        <p:nvSpPr>
          <p:cNvPr id="25" name="TextBox 24"/>
          <p:cNvSpPr txBox="1"/>
          <p:nvPr/>
        </p:nvSpPr>
        <p:spPr>
          <a:xfrm>
            <a:off x="10149840" y="2651760"/>
            <a:ext cx="1463040" cy="365760"/>
          </a:xfrm>
          <a:prstGeom prst="rect">
            <a:avLst/>
          </a:prstGeom>
          <a:noFill/>
        </p:spPr>
        <p:txBody>
          <a:bodyPr wrap="square" lIns="0" rIns="0" tIns="0" bIns="0" anchor="t">
            <a:noAutofit/>
          </a:bodyPr>
          <a:lstStyle/>
          <a:p>
            <a:pPr algn="ctr">
              <a:spcAft>
                <a:spcPts val="0"/>
              </a:spcAft>
            </a:pPr>
            <a:r>
              <a:rPr sz="1600" b="1">
                <a:solidFill>
                  <a:schemeClr val="tx1"/>
                </a:solidFill>
              </a:rPr>
              <a:t>Verdicts</a:t>
            </a:r>
          </a:p>
        </p:txBody>
      </p:sp>
      <p:sp>
        <p:nvSpPr>
          <p:cNvPr id="26" name="TextBox 25"/>
          <p:cNvSpPr txBox="1"/>
          <p:nvPr/>
        </p:nvSpPr>
        <p:spPr>
          <a:xfrm>
            <a:off x="10149840" y="3044952"/>
            <a:ext cx="1463040" cy="1188720"/>
          </a:xfrm>
          <a:prstGeom prst="rect">
            <a:avLst/>
          </a:prstGeom>
          <a:noFill/>
        </p:spPr>
        <p:txBody>
          <a:bodyPr wrap="square" lIns="0" rIns="0" tIns="0" bIns="0" anchor="t">
            <a:noAutofit/>
          </a:bodyPr>
          <a:lstStyle/>
          <a:p>
            <a:pPr algn="ctr">
              <a:spcAft>
                <a:spcPts val="0"/>
              </a:spcAft>
            </a:pPr>
            <a:r>
              <a:rPr sz="1300" b="0">
                <a:solidFill>
                  <a:srgbClr val="3A4256"/>
                </a:solidFill>
              </a:rPr>
              <a:t>Cause, effect, confidence, needs review</a:t>
            </a:r>
          </a:p>
        </p:txBody>
      </p:sp>
      <p:sp>
        <p:nvSpPr>
          <p:cNvPr id="27" name="Key idea band"/>
          <p:cNvSpPr/>
          <p:nvPr/>
        </p:nvSpPr>
        <p:spPr>
          <a:xfrm>
            <a:off x="548640" y="4572000"/>
            <a:ext cx="11064240" cy="1234440"/>
          </a:xfrm>
          <a:prstGeom prst="roundRect">
            <a:avLst>
              <a:gd name="adj" fmla="val 10370"/>
            </a:avLst>
          </a:prstGeom>
          <a:solidFill>
            <a:srgbClr val="E8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ower icon circle"/>
          <p:cNvSpPr/>
          <p:nvPr/>
        </p:nvSpPr>
        <p:spPr>
          <a:xfrm>
            <a:off x="868680" y="4864608"/>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ower icon" descr="power icon"/>
          <p:cNvPicPr>
            <a:picLocks noChangeAspect="1"/>
          </p:cNvPicPr>
          <p:nvPr/>
        </p:nvPicPr>
        <p:blipFill>
          <a:blip r:embed="rId3"/>
          <a:stretch>
            <a:fillRect/>
          </a:stretch>
        </p:blipFill>
        <p:spPr>
          <a:xfrm>
            <a:off x="1009497" y="5005425"/>
            <a:ext cx="358444" cy="358444"/>
          </a:xfrm>
          <a:prstGeom prst="rect">
            <a:avLst/>
          </a:prstGeom>
        </p:spPr>
      </p:pic>
      <p:sp>
        <p:nvSpPr>
          <p:cNvPr id="30" name="TextBox 29"/>
          <p:cNvSpPr txBox="1"/>
          <p:nvPr/>
        </p:nvSpPr>
        <p:spPr>
          <a:xfrm>
            <a:off x="1783080" y="4572000"/>
            <a:ext cx="9601200" cy="1234440"/>
          </a:xfrm>
          <a:prstGeom prst="rect">
            <a:avLst/>
          </a:prstGeom>
          <a:noFill/>
        </p:spPr>
        <p:txBody>
          <a:bodyPr wrap="square" lIns="0" rIns="0" tIns="0" bIns="0" anchor="ctr">
            <a:noAutofit/>
          </a:bodyPr>
          <a:lstStyle/>
          <a:p>
            <a:pPr algn="l">
              <a:spcAft>
                <a:spcPts val="0"/>
              </a:spcAft>
            </a:pPr>
            <a:r>
              <a:rPr sz="1700" b="1">
                <a:solidFill>
                  <a:schemeClr val="tx1"/>
                </a:solidFill>
              </a:rPr>
              <a:t>The key idea: </a:t>
            </a:r>
            <a:r>
              <a:rPr sz="1700" b="0">
                <a:solidFill>
                  <a:schemeClr val="tx1"/>
                </a:solidFill>
              </a:rPr>
              <a:t>every boot closes the previous session. Everything between two boots is one session, and WELA decides how each session ended — cleanly or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How WELA decides how the machine powered off</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HOW IT WORKS</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7</a:t>
            </a:r>
          </a:p>
        </p:txBody>
      </p:sp>
      <p:graphicFrame>
        <p:nvGraphicFramePr>
          <p:cNvPr id="5" name="Classification table"/>
          <p:cNvGraphicFramePr>
            <a:graphicFrameLocks noGrp="1"/>
          </p:cNvGraphicFramePr>
          <p:nvPr/>
        </p:nvGraphicFramePr>
        <p:xfrm>
          <a:off x="548640" y="1600200"/>
          <a:ext cx="11064240" cy="3968496"/>
        </p:xfrm>
        <a:graphic>
          <a:graphicData uri="http://schemas.openxmlformats.org/drawingml/2006/table">
            <a:tbl>
              <a:tblPr firstRow="0" bandRow="0"/>
              <a:tblGrid>
                <a:gridCol w="5120640"/>
                <a:gridCol w="5943600"/>
              </a:tblGrid>
              <a:tr h="566928">
                <a:tc>
                  <a:txBody>
                    <a:bodyPr wrap="square"/>
                    <a:lstStyle/>
                    <a:p>
                      <a:pPr algn="l">
                        <a:spcAft>
                          <a:spcPts val="0"/>
                        </a:spcAft>
                      </a:pPr>
                      <a:r>
                        <a:rPr sz="1400" b="1">
                          <a:solidFill>
                            <a:schemeClr val="bg1"/>
                          </a:solidFill>
                        </a:rPr>
                        <a:t>What the logs show</a:t>
                      </a:r>
                    </a:p>
                  </a:txBody>
                  <a:tcPr marL="137160" marR="137160" marT="73152" marB="73152" anchor="ctr">
                    <a:lnL w="0">
                      <a:noFill/>
                    </a:lnL>
                    <a:lnR w="0">
                      <a:noFill/>
                    </a:lnR>
                    <a:lnT w="0">
                      <a:noFill/>
                    </a:lnT>
                    <a:lnB w="9525">
                      <a:solidFill>
                        <a:srgbClr val="D5DAE5"/>
                      </a:solidFill>
                    </a:lnB>
                    <a:solidFill>
                      <a:schemeClr val="accent1"/>
                    </a:solidFill>
                  </a:tcPr>
                </a:tc>
                <a:tc>
                  <a:txBody>
                    <a:bodyPr wrap="square"/>
                    <a:lstStyle/>
                    <a:p>
                      <a:pPr algn="l">
                        <a:spcAft>
                          <a:spcPts val="0"/>
                        </a:spcAft>
                      </a:pPr>
                      <a:r>
                        <a:rPr sz="1400" b="1">
                          <a:solidFill>
                            <a:schemeClr val="bg1"/>
                          </a:solidFill>
                        </a:rPr>
                        <a:t>Verdict</a:t>
                      </a:r>
                    </a:p>
                  </a:txBody>
                  <a:tcPr marL="137160" marR="137160" marT="73152" marB="73152" anchor="ctr">
                    <a:lnL w="0">
                      <a:noFill/>
                    </a:lnL>
                    <a:lnR w="0">
                      <a:noFill/>
                    </a:lnR>
                    <a:lnT w="0">
                      <a:noFill/>
                    </a:lnT>
                    <a:lnB w="9525">
                      <a:solidFill>
                        <a:srgbClr val="D5DAE5"/>
                      </a:solidFill>
                    </a:lnB>
                    <a:solidFill>
                      <a:schemeClr val="accent1"/>
                    </a:solidFill>
                  </a:tcPr>
                </a:tc>
              </a:tr>
              <a:tr h="566928">
                <a:tc>
                  <a:txBody>
                    <a:bodyPr wrap="square"/>
                    <a:lstStyle/>
                    <a:p>
                      <a:pPr algn="l">
                        <a:spcAft>
                          <a:spcPts val="0"/>
                        </a:spcAft>
                      </a:pPr>
                      <a:r>
                        <a:rPr sz="1400" b="0">
                          <a:solidFill>
                            <a:schemeClr val="tx1"/>
                          </a:solidFill>
                        </a:rPr>
                        <a:t>Shutdown events at the end of the session: 1074, 109, 13, 6006</a:t>
                      </a:r>
                    </a:p>
                  </a:txBody>
                  <a:tcPr marL="137160" marR="137160" marT="73152" marB="73152" anchor="ctr">
                    <a:lnL w="0">
                      <a:noFill/>
                    </a:lnL>
                    <a:lnR w="0">
                      <a:noFill/>
                    </a:lnR>
                    <a:lnT w="0">
                      <a:noFill/>
                    </a:lnT>
                    <a:lnB w="9525">
                      <a:solidFill>
                        <a:srgbClr val="D5DAE5"/>
                      </a:solidFill>
                    </a:lnB>
                    <a:solidFill>
                      <a:schemeClr val="bg1"/>
                    </a:solidFill>
                  </a:tcPr>
                </a:tc>
                <a:tc>
                  <a:txBody>
                    <a:bodyPr wrap="square"/>
                    <a:lstStyle/>
                    <a:p>
                      <a:pPr algn="l">
                        <a:spcAft>
                          <a:spcPts val="0"/>
                        </a:spcAft>
                      </a:pPr>
                      <a:r>
                        <a:rPr sz="1400" b="1">
                          <a:solidFill>
                            <a:schemeClr val="accent4"/>
                          </a:solidFill>
                        </a:rPr>
                        <a:t>Normal shutdown or restart. </a:t>
                      </a:r>
                      <a:r>
                        <a:rPr sz="1400" b="0">
                          <a:solidFill>
                            <a:schemeClr val="tx1"/>
                          </a:solidFill>
                        </a:rPr>
                        <a:t>1074 says which; otherwise a boot within 5 min means restart</a:t>
                      </a:r>
                    </a:p>
                  </a:txBody>
                  <a:tcPr marL="137160" marR="137160" marT="73152" marB="73152" anchor="ctr">
                    <a:lnL w="0">
                      <a:noFill/>
                    </a:lnL>
                    <a:lnR w="0">
                      <a:noFill/>
                    </a:lnR>
                    <a:lnT w="0">
                      <a:noFill/>
                    </a:lnT>
                    <a:lnB w="9525">
                      <a:solidFill>
                        <a:srgbClr val="D5DAE5"/>
                      </a:solidFill>
                    </a:lnB>
                    <a:solidFill>
                      <a:schemeClr val="bg1"/>
                    </a:solidFill>
                  </a:tcPr>
                </a:tc>
              </a:tr>
              <a:tr h="566928">
                <a:tc>
                  <a:txBody>
                    <a:bodyPr wrap="square"/>
                    <a:lstStyle/>
                    <a:p>
                      <a:pPr algn="l">
                        <a:spcAft>
                          <a:spcPts val="0"/>
                        </a:spcAft>
                      </a:pPr>
                      <a:r>
                        <a:rPr sz="1400" b="0">
                          <a:solidFill>
                            <a:schemeClr val="tx1"/>
                          </a:solidFill>
                        </a:rPr>
                        <a:t>Shutdown events, then a hybrid boot</a:t>
                      </a:r>
                    </a:p>
                  </a:txBody>
                  <a:tcPr marL="137160" marR="137160" marT="73152" marB="73152" anchor="ctr">
                    <a:lnL w="0">
                      <a:noFill/>
                    </a:lnL>
                    <a:lnR w="0">
                      <a:noFill/>
                    </a:lnR>
                    <a:lnT w="0">
                      <a:noFill/>
                    </a:lnT>
                    <a:lnB w="9525">
                      <a:solidFill>
                        <a:srgbClr val="D5DAE5"/>
                      </a:solidFill>
                    </a:lnB>
                    <a:solidFill>
                      <a:schemeClr val="bg1"/>
                    </a:solidFill>
                  </a:tcPr>
                </a:tc>
                <a:tc>
                  <a:txBody>
                    <a:bodyPr wrap="square"/>
                    <a:lstStyle/>
                    <a:p>
                      <a:pPr algn="l">
                        <a:spcAft>
                          <a:spcPts val="0"/>
                        </a:spcAft>
                      </a:pPr>
                      <a:r>
                        <a:rPr sz="1400" b="1">
                          <a:solidFill>
                            <a:schemeClr val="accent1"/>
                          </a:solidFill>
                        </a:rPr>
                        <a:t>Fast Startup </a:t>
                      </a:r>
                      <a:r>
                        <a:rPr sz="1400" b="0">
                          <a:solidFill>
                            <a:schemeClr val="tx1"/>
                          </a:solidFill>
                        </a:rPr>
                        <a:t>— Windows hibernated the kernel (event 27, BootType=1)</a:t>
                      </a:r>
                    </a:p>
                  </a:txBody>
                  <a:tcPr marL="137160" marR="137160" marT="73152" marB="73152" anchor="ctr">
                    <a:lnL w="0">
                      <a:noFill/>
                    </a:lnL>
                    <a:lnR w="0">
                      <a:noFill/>
                    </a:lnR>
                    <a:lnT w="0">
                      <a:noFill/>
                    </a:lnT>
                    <a:lnB w="9525">
                      <a:solidFill>
                        <a:srgbClr val="D5DAE5"/>
                      </a:solidFill>
                    </a:lnB>
                    <a:solidFill>
                      <a:schemeClr val="bg1"/>
                    </a:solidFill>
                  </a:tcPr>
                </a:tc>
              </a:tr>
              <a:tr h="566928">
                <a:tc>
                  <a:txBody>
                    <a:bodyPr wrap="square"/>
                    <a:lstStyle/>
                    <a:p>
                      <a:pPr algn="l">
                        <a:spcAft>
                          <a:spcPts val="0"/>
                        </a:spcAft>
                      </a:pPr>
                      <a:r>
                        <a:rPr sz="1400" b="0">
                          <a:solidFill>
                            <a:schemeClr val="tx1"/>
                          </a:solidFill>
                        </a:rPr>
                        <a:t>41 or 6008 logged after the next boot</a:t>
                      </a:r>
                    </a:p>
                  </a:txBody>
                  <a:tcPr marL="137160" marR="137160" marT="73152" marB="73152" anchor="ctr">
                    <a:lnL w="0">
                      <a:noFill/>
                    </a:lnL>
                    <a:lnR w="0">
                      <a:noFill/>
                    </a:lnR>
                    <a:lnT w="0">
                      <a:noFill/>
                    </a:lnT>
                    <a:lnB w="9525">
                      <a:solidFill>
                        <a:srgbClr val="D5DAE5"/>
                      </a:solidFill>
                    </a:lnB>
                    <a:solidFill>
                      <a:schemeClr val="bg1"/>
                    </a:solidFill>
                  </a:tcPr>
                </a:tc>
                <a:tc>
                  <a:txBody>
                    <a:bodyPr wrap="square"/>
                    <a:lstStyle/>
                    <a:p>
                      <a:pPr algn="l">
                        <a:spcAft>
                          <a:spcPts val="0"/>
                        </a:spcAft>
                      </a:pPr>
                      <a:r>
                        <a:rPr sz="1400" b="1">
                          <a:solidFill>
                            <a:schemeClr val="accent2"/>
                          </a:solidFill>
                        </a:rPr>
                        <a:t>Hard shutdown. </a:t>
                      </a:r>
                      <a:r>
                        <a:rPr sz="1400" b="0">
                          <a:solidFill>
                            <a:schemeClr val="tx1"/>
                          </a:solidFill>
                        </a:rPr>
                        <a:t>41’s fields say which: crash (bugcheck code), power-button long press, power lost while asleep, or power loss / hang</a:t>
                      </a:r>
                    </a:p>
                  </a:txBody>
                  <a:tcPr marL="137160" marR="137160" marT="73152" marB="73152" anchor="ctr">
                    <a:lnL w="0">
                      <a:noFill/>
                    </a:lnL>
                    <a:lnR w="0">
                      <a:noFill/>
                    </a:lnR>
                    <a:lnT w="0">
                      <a:noFill/>
                    </a:lnT>
                    <a:lnB w="9525">
                      <a:solidFill>
                        <a:srgbClr val="D5DAE5"/>
                      </a:solidFill>
                    </a:lnB>
                    <a:solidFill>
                      <a:schemeClr val="bg1"/>
                    </a:solidFill>
                  </a:tcPr>
                </a:tc>
              </a:tr>
              <a:tr h="566928">
                <a:tc>
                  <a:txBody>
                    <a:bodyPr wrap="square"/>
                    <a:lstStyle/>
                    <a:p>
                      <a:pPr algn="l">
                        <a:spcAft>
                          <a:spcPts val="0"/>
                        </a:spcAft>
                      </a:pPr>
                      <a:r>
                        <a:rPr sz="1400" b="0">
                          <a:solidFill>
                            <a:schemeClr val="tx1"/>
                          </a:solidFill>
                        </a:rPr>
                        <a:t>Shutdown started (1074), then 41 on the next boot</a:t>
                      </a:r>
                    </a:p>
                  </a:txBody>
                  <a:tcPr marL="137160" marR="137160" marT="73152" marB="73152" anchor="ctr">
                    <a:lnL w="0">
                      <a:noFill/>
                    </a:lnL>
                    <a:lnR w="0">
                      <a:noFill/>
                    </a:lnR>
                    <a:lnT w="0">
                      <a:noFill/>
                    </a:lnT>
                    <a:lnB w="9525">
                      <a:solidFill>
                        <a:srgbClr val="D5DAE5"/>
                      </a:solidFill>
                    </a:lnB>
                    <a:solidFill>
                      <a:schemeClr val="bg1"/>
                    </a:solidFill>
                  </a:tcPr>
                </a:tc>
                <a:tc>
                  <a:txBody>
                    <a:bodyPr wrap="square"/>
                    <a:lstStyle/>
                    <a:p>
                      <a:pPr algn="l">
                        <a:spcAft>
                          <a:spcPts val="0"/>
                        </a:spcAft>
                      </a:pPr>
                      <a:r>
                        <a:rPr sz="1400" b="1">
                          <a:solidFill>
                            <a:schemeClr val="accent2"/>
                          </a:solidFill>
                        </a:rPr>
                        <a:t>Hard shutdown </a:t>
                      </a:r>
                      <a:r>
                        <a:rPr sz="1400" b="0">
                          <a:solidFill>
                            <a:schemeClr val="tx1"/>
                          </a:solidFill>
                        </a:rPr>
                        <a:t>— the shutdown hung and never finished</a:t>
                      </a:r>
                    </a:p>
                  </a:txBody>
                  <a:tcPr marL="137160" marR="137160" marT="73152" marB="73152" anchor="ctr">
                    <a:lnL w="0">
                      <a:noFill/>
                    </a:lnL>
                    <a:lnR w="0">
                      <a:noFill/>
                    </a:lnR>
                    <a:lnT w="0">
                      <a:noFill/>
                    </a:lnT>
                    <a:lnB w="9525">
                      <a:solidFill>
                        <a:srgbClr val="D5DAE5"/>
                      </a:solidFill>
                    </a:lnB>
                    <a:solidFill>
                      <a:schemeClr val="bg1"/>
                    </a:solidFill>
                  </a:tcPr>
                </a:tc>
              </a:tr>
              <a:tr h="566928">
                <a:tc>
                  <a:txBody>
                    <a:bodyPr wrap="square"/>
                    <a:lstStyle/>
                    <a:p>
                      <a:pPr algn="l">
                        <a:spcAft>
                          <a:spcPts val="0"/>
                        </a:spcAft>
                      </a:pPr>
                      <a:r>
                        <a:rPr sz="1400" b="0">
                          <a:solidFill>
                            <a:schemeClr val="tx1"/>
                          </a:solidFill>
                        </a:rPr>
                        <a:t>No shutdown events and no 41 or 6008</a:t>
                      </a:r>
                    </a:p>
                  </a:txBody>
                  <a:tcPr marL="137160" marR="137160" marT="73152" marB="73152" anchor="ctr">
                    <a:lnL w="0">
                      <a:noFill/>
                    </a:lnL>
                    <a:lnR w="0">
                      <a:noFill/>
                    </a:lnR>
                    <a:lnT w="0">
                      <a:noFill/>
                    </a:lnT>
                    <a:lnB w="9525">
                      <a:solidFill>
                        <a:srgbClr val="D5DAE5"/>
                      </a:solidFill>
                    </a:lnB>
                    <a:solidFill>
                      <a:schemeClr val="bg1"/>
                    </a:solidFill>
                  </a:tcPr>
                </a:tc>
                <a:tc>
                  <a:txBody>
                    <a:bodyPr wrap="square"/>
                    <a:lstStyle/>
                    <a:p>
                      <a:pPr algn="l">
                        <a:spcAft>
                          <a:spcPts val="0"/>
                        </a:spcAft>
                      </a:pPr>
                      <a:r>
                        <a:rPr sz="1400" b="1">
                          <a:solidFill>
                            <a:schemeClr val="accent2"/>
                          </a:solidFill>
                        </a:rPr>
                        <a:t>Inferred hard shutdown </a:t>
                      </a:r>
                      <a:r>
                        <a:rPr sz="1400" b="0">
                          <a:solidFill>
                            <a:schemeClr val="tx1"/>
                          </a:solidFill>
                        </a:rPr>
                        <a:t>— 30% confidence, flagged for review</a:t>
                      </a:r>
                    </a:p>
                  </a:txBody>
                  <a:tcPr marL="137160" marR="137160" marT="73152" marB="73152" anchor="ctr">
                    <a:lnL w="0">
                      <a:noFill/>
                    </a:lnL>
                    <a:lnR w="0">
                      <a:noFill/>
                    </a:lnR>
                    <a:lnT w="0">
                      <a:noFill/>
                    </a:lnT>
                    <a:lnB w="9525">
                      <a:solidFill>
                        <a:srgbClr val="D5DAE5"/>
                      </a:solidFill>
                    </a:lnB>
                    <a:solidFill>
                      <a:schemeClr val="bg1"/>
                    </a:solidFill>
                  </a:tcPr>
                </a:tc>
              </a:tr>
              <a:tr h="566928">
                <a:tc>
                  <a:txBody>
                    <a:bodyPr wrap="square"/>
                    <a:lstStyle/>
                    <a:p>
                      <a:pPr algn="l">
                        <a:spcAft>
                          <a:spcPts val="0"/>
                        </a:spcAft>
                      </a:pPr>
                      <a:r>
                        <a:rPr sz="1400" b="0">
                          <a:solidFill>
                            <a:schemeClr val="tx1"/>
                          </a:solidFill>
                        </a:rPr>
                        <a:t>Missing records at the boundary, or the log starts at this boot</a:t>
                      </a:r>
                    </a:p>
                  </a:txBody>
                  <a:tcPr marL="137160" marR="137160" marT="73152" marB="73152" anchor="ctr">
                    <a:lnL w="0">
                      <a:noFill/>
                    </a:lnL>
                    <a:lnR w="0">
                      <a:noFill/>
                    </a:lnR>
                    <a:lnT w="0">
                      <a:noFill/>
                    </a:lnT>
                    <a:lnB w="9525">
                      <a:solidFill>
                        <a:srgbClr val="D5DAE5"/>
                      </a:solidFill>
                    </a:lnB>
                    <a:solidFill>
                      <a:schemeClr val="bg1"/>
                    </a:solidFill>
                  </a:tcPr>
                </a:tc>
                <a:tc>
                  <a:txBody>
                    <a:bodyPr wrap="square"/>
                    <a:lstStyle/>
                    <a:p>
                      <a:pPr algn="l">
                        <a:spcAft>
                          <a:spcPts val="0"/>
                        </a:spcAft>
                      </a:pPr>
                      <a:r>
                        <a:rPr sz="1400" b="1">
                          <a:solidFill>
                            <a:schemeClr val="accent6"/>
                          </a:solidFill>
                        </a:rPr>
                        <a:t>Undetermined </a:t>
                      </a:r>
                      <a:r>
                        <a:rPr sz="1400" b="0">
                          <a:solidFill>
                            <a:schemeClr val="tx1"/>
                          </a:solidFill>
                        </a:rPr>
                        <a:t>— WELA doesn’t guess</a:t>
                      </a:r>
                    </a:p>
                  </a:txBody>
                  <a:tcPr marL="137160" marR="137160" marT="73152" marB="73152" anchor="ctr">
                    <a:lnL w="0">
                      <a:noFill/>
                    </a:lnL>
                    <a:lnR w="0">
                      <a:noFill/>
                    </a:lnR>
                    <a:lnT w="0">
                      <a:noFill/>
                    </a:lnT>
                    <a:lnB w="9525">
                      <a:solidFill>
                        <a:srgbClr val="D5DAE5"/>
                      </a:solidFill>
                    </a:lnB>
                    <a:solidFill>
                      <a:schemeClr val="bg1"/>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Every verdict carries a confidence score</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HOW IT WORKS</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8</a:t>
            </a:r>
          </a:p>
        </p:txBody>
      </p:sp>
      <p:sp>
        <p:nvSpPr>
          <p:cNvPr id="5" name="TextBox 4"/>
          <p:cNvSpPr txBox="1"/>
          <p:nvPr/>
        </p:nvSpPr>
        <p:spPr>
          <a:xfrm>
            <a:off x="548640" y="1691640"/>
            <a:ext cx="6858000" cy="365760"/>
          </a:xfrm>
          <a:prstGeom prst="rect">
            <a:avLst/>
          </a:prstGeom>
          <a:noFill/>
        </p:spPr>
        <p:txBody>
          <a:bodyPr wrap="square" lIns="0" rIns="0" tIns="0" bIns="0" anchor="t">
            <a:noAutofit/>
          </a:bodyPr>
          <a:lstStyle/>
          <a:p>
            <a:pPr algn="l">
              <a:spcAft>
                <a:spcPts val="0"/>
              </a:spcAft>
            </a:pPr>
            <a:r>
              <a:rPr sz="1600" b="1">
                <a:solidFill>
                  <a:schemeClr val="tx1"/>
                </a:solidFill>
              </a:rPr>
              <a:t>Clean shutdown — 1074 + 13 + 6006</a:t>
            </a:r>
          </a:p>
        </p:txBody>
      </p:sp>
      <p:sp>
        <p:nvSpPr>
          <p:cNvPr id="6" name="1074 · 0.35 bar"/>
          <p:cNvSpPr/>
          <p:nvPr/>
        </p:nvSpPr>
        <p:spPr>
          <a:xfrm>
            <a:off x="548640" y="2130552"/>
            <a:ext cx="198424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200" b="1">
                <a:solidFill>
                  <a:schemeClr val="bg1"/>
                </a:solidFill>
              </a:rPr>
              <a:t>1074 · 0.35</a:t>
            </a:r>
          </a:p>
        </p:txBody>
      </p:sp>
      <p:sp>
        <p:nvSpPr>
          <p:cNvPr id="7" name="13 · 0.30 bar"/>
          <p:cNvSpPr/>
          <p:nvPr/>
        </p:nvSpPr>
        <p:spPr>
          <a:xfrm>
            <a:off x="2532888" y="2130552"/>
            <a:ext cx="1700784" cy="502920"/>
          </a:xfrm>
          <a:prstGeom prst="rect">
            <a:avLst/>
          </a:prstGeom>
          <a:solidFill>
            <a:srgbClr val="3D5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200" b="1">
                <a:solidFill>
                  <a:schemeClr val="bg1"/>
                </a:solidFill>
              </a:rPr>
              <a:t>13 · 0.30</a:t>
            </a:r>
          </a:p>
        </p:txBody>
      </p:sp>
      <p:sp>
        <p:nvSpPr>
          <p:cNvPr id="8" name="6006 · 0.30 bar"/>
          <p:cNvSpPr/>
          <p:nvPr/>
        </p:nvSpPr>
        <p:spPr>
          <a:xfrm>
            <a:off x="4233672" y="2130552"/>
            <a:ext cx="1700784" cy="502920"/>
          </a:xfrm>
          <a:prstGeom prst="rect">
            <a:avLst/>
          </a:prstGeom>
          <a:solidFill>
            <a:srgbClr val="6B7F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200" b="1">
                <a:solidFill>
                  <a:schemeClr val="bg1"/>
                </a:solidFill>
              </a:rPr>
              <a:t>6006 · 0.30</a:t>
            </a:r>
          </a:p>
        </p:txBody>
      </p:sp>
      <p:sp>
        <p:nvSpPr>
          <p:cNvPr id="9" name="TextBox 8"/>
          <p:cNvSpPr txBox="1"/>
          <p:nvPr/>
        </p:nvSpPr>
        <p:spPr>
          <a:xfrm>
            <a:off x="6071616" y="2130552"/>
            <a:ext cx="914400" cy="502920"/>
          </a:xfrm>
          <a:prstGeom prst="rect">
            <a:avLst/>
          </a:prstGeom>
          <a:noFill/>
        </p:spPr>
        <p:txBody>
          <a:bodyPr wrap="square" lIns="0" rIns="0" tIns="0" bIns="0" anchor="ctr">
            <a:noAutofit/>
          </a:bodyPr>
          <a:lstStyle/>
          <a:p>
            <a:pPr algn="l">
              <a:spcAft>
                <a:spcPts val="0"/>
              </a:spcAft>
            </a:pPr>
            <a:r>
              <a:rPr sz="2000" b="1">
                <a:solidFill>
                  <a:schemeClr val="tx1"/>
                </a:solidFill>
              </a:rPr>
              <a:t>95%</a:t>
            </a:r>
          </a:p>
        </p:txBody>
      </p:sp>
      <p:sp>
        <p:nvSpPr>
          <p:cNvPr id="10" name="TextBox 9"/>
          <p:cNvSpPr txBox="1"/>
          <p:nvPr/>
        </p:nvSpPr>
        <p:spPr>
          <a:xfrm>
            <a:off x="548640" y="2880360"/>
            <a:ext cx="6858000" cy="365760"/>
          </a:xfrm>
          <a:prstGeom prst="rect">
            <a:avLst/>
          </a:prstGeom>
          <a:noFill/>
        </p:spPr>
        <p:txBody>
          <a:bodyPr wrap="square" lIns="0" rIns="0" tIns="0" bIns="0" anchor="t">
            <a:noAutofit/>
          </a:bodyPr>
          <a:lstStyle/>
          <a:p>
            <a:pPr algn="l">
              <a:spcAft>
                <a:spcPts val="0"/>
              </a:spcAft>
            </a:pPr>
            <a:r>
              <a:rPr sz="1600" b="1">
                <a:solidFill>
                  <a:schemeClr val="tx1"/>
                </a:solidFill>
              </a:rPr>
              <a:t>Hard shutdown — 41 + 6008</a:t>
            </a:r>
          </a:p>
        </p:txBody>
      </p:sp>
      <p:sp>
        <p:nvSpPr>
          <p:cNvPr id="11" name="41 · 0.50 bar"/>
          <p:cNvSpPr/>
          <p:nvPr/>
        </p:nvSpPr>
        <p:spPr>
          <a:xfrm>
            <a:off x="548640" y="3319272"/>
            <a:ext cx="2834640" cy="5029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200" b="1">
                <a:solidFill>
                  <a:schemeClr val="bg1"/>
                </a:solidFill>
              </a:rPr>
              <a:t>41 · 0.50</a:t>
            </a:r>
          </a:p>
        </p:txBody>
      </p:sp>
      <p:sp>
        <p:nvSpPr>
          <p:cNvPr id="12" name="6008 · 0.40 bar"/>
          <p:cNvSpPr/>
          <p:nvPr/>
        </p:nvSpPr>
        <p:spPr>
          <a:xfrm>
            <a:off x="3383280" y="3319272"/>
            <a:ext cx="2267712" cy="502920"/>
          </a:xfrm>
          <a:prstGeom prst="rect">
            <a:avLst/>
          </a:prstGeom>
          <a:solidFill>
            <a:srgbClr val="D965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200" b="1">
                <a:solidFill>
                  <a:schemeClr val="bg1"/>
                </a:solidFill>
              </a:rPr>
              <a:t>6008 · 0.40</a:t>
            </a:r>
          </a:p>
        </p:txBody>
      </p:sp>
      <p:sp>
        <p:nvSpPr>
          <p:cNvPr id="13" name="TextBox 12"/>
          <p:cNvSpPr txBox="1"/>
          <p:nvPr/>
        </p:nvSpPr>
        <p:spPr>
          <a:xfrm>
            <a:off x="5788152" y="3319272"/>
            <a:ext cx="914400" cy="502920"/>
          </a:xfrm>
          <a:prstGeom prst="rect">
            <a:avLst/>
          </a:prstGeom>
          <a:noFill/>
        </p:spPr>
        <p:txBody>
          <a:bodyPr wrap="square" lIns="0" rIns="0" tIns="0" bIns="0" anchor="ctr">
            <a:noAutofit/>
          </a:bodyPr>
          <a:lstStyle/>
          <a:p>
            <a:pPr algn="l">
              <a:spcAft>
                <a:spcPts val="0"/>
              </a:spcAft>
            </a:pPr>
            <a:r>
              <a:rPr sz="2000" b="1">
                <a:solidFill>
                  <a:schemeClr val="tx1"/>
                </a:solidFill>
              </a:rPr>
              <a:t>90%</a:t>
            </a:r>
          </a:p>
        </p:txBody>
      </p:sp>
      <p:sp>
        <p:nvSpPr>
          <p:cNvPr id="14" name="TextBox 13"/>
          <p:cNvSpPr txBox="1"/>
          <p:nvPr/>
        </p:nvSpPr>
        <p:spPr>
          <a:xfrm>
            <a:off x="548640" y="4069080"/>
            <a:ext cx="6858000" cy="365760"/>
          </a:xfrm>
          <a:prstGeom prst="rect">
            <a:avLst/>
          </a:prstGeom>
          <a:noFill/>
        </p:spPr>
        <p:txBody>
          <a:bodyPr wrap="square" lIns="0" rIns="0" tIns="0" bIns="0" anchor="t">
            <a:noAutofit/>
          </a:bodyPr>
          <a:lstStyle/>
          <a:p>
            <a:pPr algn="l">
              <a:spcAft>
                <a:spcPts val="0"/>
              </a:spcAft>
            </a:pPr>
            <a:r>
              <a:rPr sz="1600" b="1">
                <a:solidFill>
                  <a:schemeClr val="tx1"/>
                </a:solidFill>
              </a:rPr>
              <a:t>Nothing logged at all</a:t>
            </a:r>
          </a:p>
        </p:txBody>
      </p:sp>
      <p:sp>
        <p:nvSpPr>
          <p:cNvPr id="15" name="Inferred · 0.30 bar"/>
          <p:cNvSpPr/>
          <p:nvPr/>
        </p:nvSpPr>
        <p:spPr>
          <a:xfrm>
            <a:off x="548640" y="4507992"/>
            <a:ext cx="1700784" cy="50292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200" b="1">
                <a:solidFill>
                  <a:schemeClr val="bg1"/>
                </a:solidFill>
              </a:rPr>
              <a:t>Inferred · 0.30</a:t>
            </a:r>
          </a:p>
        </p:txBody>
      </p:sp>
      <p:sp>
        <p:nvSpPr>
          <p:cNvPr id="16" name="TextBox 15"/>
          <p:cNvSpPr txBox="1"/>
          <p:nvPr/>
        </p:nvSpPr>
        <p:spPr>
          <a:xfrm>
            <a:off x="2386584" y="4507992"/>
            <a:ext cx="914400" cy="502920"/>
          </a:xfrm>
          <a:prstGeom prst="rect">
            <a:avLst/>
          </a:prstGeom>
          <a:noFill/>
        </p:spPr>
        <p:txBody>
          <a:bodyPr wrap="square" lIns="0" rIns="0" tIns="0" bIns="0" anchor="ctr">
            <a:noAutofit/>
          </a:bodyPr>
          <a:lstStyle/>
          <a:p>
            <a:pPr algn="l">
              <a:spcAft>
                <a:spcPts val="0"/>
              </a:spcAft>
            </a:pPr>
            <a:r>
              <a:rPr sz="2000" b="1">
                <a:solidFill>
                  <a:schemeClr val="tx1"/>
                </a:solidFill>
              </a:rPr>
              <a:t>30%</a:t>
            </a:r>
          </a:p>
        </p:txBody>
      </p:sp>
      <p:sp>
        <p:nvSpPr>
          <p:cNvPr id="17" name="Needs review chip"/>
          <p:cNvSpPr/>
          <p:nvPr/>
        </p:nvSpPr>
        <p:spPr>
          <a:xfrm>
            <a:off x="3209544" y="4567428"/>
            <a:ext cx="1463040" cy="384048"/>
          </a:xfrm>
          <a:prstGeom prst="roundRect">
            <a:avLst>
              <a:gd name="adj" fmla="val 50000"/>
            </a:avLst>
          </a:prstGeom>
          <a:solidFill>
            <a:srgbClr val="FCF1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300" b="1">
                <a:solidFill>
                  <a:schemeClr val="accent3"/>
                </a:solidFill>
              </a:rPr>
              <a:t>Needs review</a:t>
            </a:r>
          </a:p>
        </p:txBody>
      </p:sp>
      <p:sp>
        <p:nvSpPr>
          <p:cNvPr id="18" name="TextBox 17"/>
          <p:cNvSpPr txBox="1"/>
          <p:nvPr/>
        </p:nvSpPr>
        <p:spPr>
          <a:xfrm>
            <a:off x="548640" y="5257800"/>
            <a:ext cx="7040880" cy="822960"/>
          </a:xfrm>
          <a:prstGeom prst="rect">
            <a:avLst/>
          </a:prstGeom>
          <a:noFill/>
        </p:spPr>
        <p:txBody>
          <a:bodyPr wrap="square" lIns="0" rIns="0" tIns="0" bIns="0" anchor="t">
            <a:noAutofit/>
          </a:bodyPr>
          <a:lstStyle/>
          <a:p>
            <a:pPr algn="l">
              <a:spcAft>
                <a:spcPts val="0"/>
              </a:spcAft>
            </a:pPr>
            <a:r>
              <a:rPr sz="1400" b="1">
                <a:solidFill>
                  <a:srgbClr val="3A4256"/>
                </a:solidFill>
              </a:rPr>
              <a:t>Penalties: </a:t>
            </a:r>
            <a:r>
              <a:rPr sz="1400" b="0">
                <a:solidFill>
                  <a:srgbClr val="3A4256"/>
                </a:solidFill>
              </a:rPr>
              <a:t>−0.25 when evidence conflicts (a clean stop and a 41) · −0.30 when records are missing at the boundary</a:t>
            </a:r>
          </a:p>
        </p:txBody>
      </p:sp>
      <p:sp>
        <p:nvSpPr>
          <p:cNvPr id="19" name="Review threshold card"/>
          <p:cNvSpPr/>
          <p:nvPr/>
        </p:nvSpPr>
        <p:spPr>
          <a:xfrm>
            <a:off x="8001000" y="1691640"/>
            <a:ext cx="3639312" cy="4069080"/>
          </a:xfrm>
          <a:prstGeom prst="roundRect">
            <a:avLst>
              <a:gd name="adj" fmla="val 3517"/>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11680"/>
            <a:ext cx="3017520" cy="365760"/>
          </a:xfrm>
          <a:prstGeom prst="rect">
            <a:avLst/>
          </a:prstGeom>
          <a:noFill/>
        </p:spPr>
        <p:txBody>
          <a:bodyPr wrap="square" lIns="0" rIns="0" tIns="0" bIns="0" anchor="t">
            <a:noAutofit/>
          </a:bodyPr>
          <a:lstStyle/>
          <a:p>
            <a:pPr algn="l">
              <a:spcAft>
                <a:spcPts val="0"/>
              </a:spcAft>
            </a:pPr>
            <a:r>
              <a:rPr sz="1500" b="1">
                <a:solidFill>
                  <a:srgbClr val="8FA2FF"/>
                </a:solidFill>
              </a:rPr>
              <a:t>Marked Needs review</a:t>
            </a:r>
          </a:p>
        </p:txBody>
      </p:sp>
      <p:sp>
        <p:nvSpPr>
          <p:cNvPr id="21" name="TextBox 20"/>
          <p:cNvSpPr txBox="1"/>
          <p:nvPr/>
        </p:nvSpPr>
        <p:spPr>
          <a:xfrm>
            <a:off x="8321040" y="2468880"/>
            <a:ext cx="3017520" cy="1005840"/>
          </a:xfrm>
          <a:prstGeom prst="rect">
            <a:avLst/>
          </a:prstGeom>
          <a:noFill/>
        </p:spPr>
        <p:txBody>
          <a:bodyPr wrap="square" lIns="0" rIns="0" tIns="0" bIns="0" anchor="t">
            <a:noAutofit/>
          </a:bodyPr>
          <a:lstStyle/>
          <a:p>
            <a:pPr algn="l">
              <a:spcAft>
                <a:spcPts val="0"/>
              </a:spcAft>
            </a:pPr>
            <a:r>
              <a:rPr sz="6000" b="1">
                <a:solidFill>
                  <a:schemeClr val="bg1"/>
                </a:solidFill>
              </a:rPr>
              <a:t>&lt; 60%</a:t>
            </a:r>
          </a:p>
        </p:txBody>
      </p:sp>
      <p:sp>
        <p:nvSpPr>
          <p:cNvPr id="22" name="TextBox 21"/>
          <p:cNvSpPr txBox="1"/>
          <p:nvPr/>
        </p:nvSpPr>
        <p:spPr>
          <a:xfrm>
            <a:off x="8321040" y="3520440"/>
            <a:ext cx="3017520" cy="411480"/>
          </a:xfrm>
          <a:prstGeom prst="rect">
            <a:avLst/>
          </a:prstGeom>
          <a:noFill/>
        </p:spPr>
        <p:txBody>
          <a:bodyPr wrap="square" lIns="0" rIns="0" tIns="0" bIns="0" anchor="t">
            <a:noAutofit/>
          </a:bodyPr>
          <a:lstStyle/>
          <a:p>
            <a:pPr algn="l">
              <a:spcAft>
                <a:spcPts val="0"/>
              </a:spcAft>
            </a:pPr>
            <a:r>
              <a:rPr sz="1800" b="0">
                <a:solidFill>
                  <a:schemeClr val="bg1"/>
                </a:solidFill>
              </a:rPr>
              <a:t>or any warning flag</a:t>
            </a:r>
          </a:p>
        </p:txBody>
      </p:sp>
      <p:sp>
        <p:nvSpPr>
          <p:cNvPr id="23" name="TextBox 22"/>
          <p:cNvSpPr txBox="1"/>
          <p:nvPr/>
        </p:nvSpPr>
        <p:spPr>
          <a:xfrm>
            <a:off x="8321040" y="4114800"/>
            <a:ext cx="3017520" cy="1371600"/>
          </a:xfrm>
          <a:prstGeom prst="rect">
            <a:avLst/>
          </a:prstGeom>
          <a:noFill/>
        </p:spPr>
        <p:txBody>
          <a:bodyPr wrap="square" lIns="0" rIns="0" tIns="0" bIns="0" anchor="t">
            <a:noAutofit/>
          </a:bodyPr>
          <a:lstStyle/>
          <a:p>
            <a:pPr algn="l">
              <a:spcAft>
                <a:spcPts val="0"/>
              </a:spcAft>
            </a:pPr>
            <a:r>
              <a:rPr sz="1500" b="0">
                <a:solidFill>
                  <a:srgbClr val="B9C2DA"/>
                </a:solidFill>
              </a:rPr>
              <a:t>These are the items to check by hand first. Weights and the threshold are tunable.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title"/>
          </p:nvPr>
        </p:nvSpPr>
        <p:spPr>
          <a:xfrm>
            <a:off x="822960" y="2788920"/>
            <a:ext cx="10424160" cy="914400"/>
          </a:xfrm>
        </p:spPr>
        <p:txBody>
          <a:bodyPr wrap="square" lIns="0" rIns="0" tIns="0" bIns="0" anchor="t">
            <a:noAutofit/>
          </a:bodyPr>
          <a:lstStyle/>
          <a:p>
            <a:pPr algn="l">
              <a:spcAft>
                <a:spcPts val="0"/>
              </a:spcAft>
            </a:pPr>
            <a:r>
              <a:rPr sz="4000" b="1">
                <a:solidFill>
                  <a:schemeClr val="bg1"/>
                </a:solidFill>
              </a:rPr>
              <a:t>Did the drive cause it?</a:t>
            </a:r>
          </a:p>
        </p:txBody>
      </p:sp>
      <p:sp>
        <p:nvSpPr>
          <p:cNvPr id="3" name="Section number"/>
          <p:cNvSpPr txBox="1"/>
          <p:nvPr/>
        </p:nvSpPr>
        <p:spPr>
          <a:xfrm>
            <a:off x="822960" y="1325880"/>
            <a:ext cx="3657600" cy="1371600"/>
          </a:xfrm>
          <a:prstGeom prst="rect">
            <a:avLst/>
          </a:prstGeom>
          <a:noFill/>
        </p:spPr>
        <p:txBody>
          <a:bodyPr wrap="square" lIns="0" rIns="0" tIns="0" bIns="0" anchor="t">
            <a:noAutofit/>
          </a:bodyPr>
          <a:lstStyle/>
          <a:p>
            <a:pPr algn="l">
              <a:spcAft>
                <a:spcPts val="0"/>
              </a:spcAft>
            </a:pPr>
            <a:r>
              <a:rPr sz="8800" b="1">
                <a:solidFill>
                  <a:srgbClr val="8FA2FF"/>
                </a:solidFill>
              </a:rPr>
              <a:t>02</a:t>
            </a:r>
          </a:p>
        </p:txBody>
      </p:sp>
      <p:sp>
        <p:nvSpPr>
          <p:cNvPr id="4" name="Section subtitle"/>
          <p:cNvSpPr txBox="1"/>
          <p:nvPr/>
        </p:nvSpPr>
        <p:spPr>
          <a:xfrm>
            <a:off x="822960" y="3794760"/>
            <a:ext cx="10424160" cy="548640"/>
          </a:xfrm>
          <a:prstGeom prst="rect">
            <a:avLst/>
          </a:prstGeom>
          <a:noFill/>
        </p:spPr>
        <p:txBody>
          <a:bodyPr wrap="square" lIns="0" rIns="0" tIns="0" bIns="0" anchor="t">
            <a:noAutofit/>
          </a:bodyPr>
          <a:lstStyle/>
          <a:p>
            <a:pPr algn="l">
              <a:spcAft>
                <a:spcPts val="0"/>
              </a:spcAft>
            </a:pPr>
            <a:r>
              <a:rPr sz="2000" b="0">
                <a:solidFill>
                  <a:srgbClr val="B9C2DA"/>
                </a:solidFill>
              </a:rPr>
              <a:t>The minute either side of every power cycle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WELA checks the minute either side of each power cycle</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THE DRIVE VERDICT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10</a:t>
            </a:r>
          </a:p>
        </p:txBody>
      </p:sp>
      <p:sp>
        <p:nvSpPr>
          <p:cNvPr id="5" name="TextBox 4"/>
          <p:cNvSpPr txBox="1"/>
          <p:nvPr/>
        </p:nvSpPr>
        <p:spPr>
          <a:xfrm>
            <a:off x="731520" y="1737360"/>
            <a:ext cx="4389120" cy="365760"/>
          </a:xfrm>
          <a:prstGeom prst="rect">
            <a:avLst/>
          </a:prstGeom>
          <a:noFill/>
        </p:spPr>
        <p:txBody>
          <a:bodyPr wrap="square" lIns="0" rIns="0" tIns="0" bIns="0" anchor="t">
            <a:noAutofit/>
          </a:bodyPr>
          <a:lstStyle/>
          <a:p>
            <a:pPr algn="l">
              <a:spcAft>
                <a:spcPts val="0"/>
              </a:spcAft>
            </a:pPr>
            <a:r>
              <a:rPr sz="1400" b="1">
                <a:solidFill>
                  <a:schemeClr val="accent1"/>
                </a:solidFill>
              </a:rPr>
              <a:t>BEFORE POWER-OFF — the cause?</a:t>
            </a:r>
          </a:p>
        </p:txBody>
      </p:sp>
      <p:sp>
        <p:nvSpPr>
          <p:cNvPr id="6" name="TextBox 5"/>
          <p:cNvSpPr txBox="1"/>
          <p:nvPr/>
        </p:nvSpPr>
        <p:spPr>
          <a:xfrm>
            <a:off x="6949440" y="1737360"/>
            <a:ext cx="4389120" cy="365760"/>
          </a:xfrm>
          <a:prstGeom prst="rect">
            <a:avLst/>
          </a:prstGeom>
          <a:noFill/>
        </p:spPr>
        <p:txBody>
          <a:bodyPr wrap="square" lIns="0" rIns="0" tIns="0" bIns="0" anchor="t">
            <a:noAutofit/>
          </a:bodyPr>
          <a:lstStyle/>
          <a:p>
            <a:pPr algn="l">
              <a:spcAft>
                <a:spcPts val="0"/>
              </a:spcAft>
            </a:pPr>
            <a:r>
              <a:rPr sz="1400" b="1">
                <a:solidFill>
                  <a:schemeClr val="accent5"/>
                </a:solidFill>
              </a:rPr>
              <a:t>AFTER BOOT — the effect</a:t>
            </a:r>
          </a:p>
        </p:txBody>
      </p:sp>
      <p:sp>
        <p:nvSpPr>
          <p:cNvPr id="7" name="TextBox 6"/>
          <p:cNvSpPr txBox="1"/>
          <p:nvPr/>
        </p:nvSpPr>
        <p:spPr>
          <a:xfrm>
            <a:off x="3246120" y="2194560"/>
            <a:ext cx="1828800" cy="292608"/>
          </a:xfrm>
          <a:prstGeom prst="rect">
            <a:avLst/>
          </a:prstGeom>
          <a:noFill/>
        </p:spPr>
        <p:txBody>
          <a:bodyPr wrap="square" lIns="0" rIns="0" tIns="0" bIns="0" anchor="t">
            <a:noAutofit/>
          </a:bodyPr>
          <a:lstStyle/>
          <a:p>
            <a:pPr algn="r">
              <a:spcAft>
                <a:spcPts val="0"/>
              </a:spcAft>
            </a:pPr>
            <a:r>
              <a:rPr sz="1200" b="0">
                <a:solidFill>
                  <a:schemeClr val="accent1"/>
                </a:solidFill>
              </a:rPr>
              <a:t>last event logged</a:t>
            </a:r>
          </a:p>
        </p:txBody>
      </p:sp>
      <p:sp>
        <p:nvSpPr>
          <p:cNvPr id="8" name="TextBox 7"/>
          <p:cNvSpPr txBox="1"/>
          <p:nvPr/>
        </p:nvSpPr>
        <p:spPr>
          <a:xfrm>
            <a:off x="5349240" y="2194560"/>
            <a:ext cx="1371600" cy="292608"/>
          </a:xfrm>
          <a:prstGeom prst="rect">
            <a:avLst/>
          </a:prstGeom>
          <a:noFill/>
        </p:spPr>
        <p:txBody>
          <a:bodyPr wrap="square" lIns="0" rIns="0" tIns="0" bIns="0" anchor="t">
            <a:noAutofit/>
          </a:bodyPr>
          <a:lstStyle/>
          <a:p>
            <a:pPr algn="ctr">
              <a:spcAft>
                <a:spcPts val="0"/>
              </a:spcAft>
            </a:pPr>
            <a:r>
              <a:rPr sz="1200" b="0" i="1">
                <a:solidFill>
                  <a:srgbClr val="5D6577"/>
                </a:solidFill>
              </a:rPr>
              <a:t>machine off</a:t>
            </a:r>
          </a:p>
        </p:txBody>
      </p:sp>
      <p:sp>
        <p:nvSpPr>
          <p:cNvPr id="9" name="TextBox 8"/>
          <p:cNvSpPr txBox="1"/>
          <p:nvPr/>
        </p:nvSpPr>
        <p:spPr>
          <a:xfrm>
            <a:off x="6995160" y="2194560"/>
            <a:ext cx="1828800" cy="292608"/>
          </a:xfrm>
          <a:prstGeom prst="rect">
            <a:avLst/>
          </a:prstGeom>
          <a:noFill/>
        </p:spPr>
        <p:txBody>
          <a:bodyPr wrap="square" lIns="0" rIns="0" tIns="0" bIns="0" anchor="t">
            <a:noAutofit/>
          </a:bodyPr>
          <a:lstStyle/>
          <a:p>
            <a:pPr algn="l">
              <a:spcAft>
                <a:spcPts val="0"/>
              </a:spcAft>
            </a:pPr>
            <a:r>
              <a:rPr sz="1200" b="0">
                <a:solidFill>
                  <a:schemeClr val="accent5"/>
                </a:solidFill>
              </a:rPr>
              <a:t>boot</a:t>
            </a:r>
          </a:p>
        </p:txBody>
      </p:sp>
      <p:cxnSp>
        <p:nvCxnSpPr>
          <p:cNvPr id="10" name="Time axis"/>
          <p:cNvCxnSpPr/>
          <p:nvPr/>
        </p:nvCxnSpPr>
        <p:spPr>
          <a:xfrm>
            <a:off x="548640" y="2834639"/>
            <a:ext cx="10972800" cy="0"/>
          </a:xfrm>
          <a:prstGeom prst="line">
            <a:avLst/>
          </a:prstGeom>
          <a:ln w="19050">
            <a:solidFill>
              <a:srgbClr val="D5DAE5"/>
            </a:solidFill>
          </a:ln>
        </p:spPr>
        <p:style>
          <a:lnRef idx="2">
            <a:schemeClr val="accent1"/>
          </a:lnRef>
          <a:fillRef idx="0">
            <a:schemeClr val="accent1"/>
          </a:fillRef>
          <a:effectRef idx="1">
            <a:schemeClr val="accent1"/>
          </a:effectRef>
          <a:fontRef idx="minor">
            <a:schemeClr val="tx1"/>
          </a:fontRef>
        </p:style>
      </p:cxnSp>
      <p:sp>
        <p:nvSpPr>
          <p:cNvPr id="11" name="Before window"/>
          <p:cNvSpPr/>
          <p:nvPr/>
        </p:nvSpPr>
        <p:spPr>
          <a:xfrm>
            <a:off x="731520" y="2560320"/>
            <a:ext cx="4389120" cy="548640"/>
          </a:xfrm>
          <a:prstGeom prst="roundRect">
            <a:avLst>
              <a:gd name="adj" fmla="val 16666"/>
            </a:avLst>
          </a:prstGeom>
          <a:solidFill>
            <a:srgbClr val="E8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fter window"/>
          <p:cNvSpPr/>
          <p:nvPr/>
        </p:nvSpPr>
        <p:spPr>
          <a:xfrm>
            <a:off x="6949440" y="2560320"/>
            <a:ext cx="4389120" cy="548640"/>
          </a:xfrm>
          <a:prstGeom prst="roundRect">
            <a:avLst>
              <a:gd name="adj" fmla="val 16666"/>
            </a:avLst>
          </a:prstGeom>
          <a:solidFill>
            <a:srgbClr val="EEE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Machine off"/>
          <p:cNvCxnSpPr/>
          <p:nvPr/>
        </p:nvCxnSpPr>
        <p:spPr>
          <a:xfrm>
            <a:off x="5120640" y="2834639"/>
            <a:ext cx="1828800" cy="0"/>
          </a:xfrm>
          <a:prstGeom prst="line">
            <a:avLst/>
          </a:prstGeom>
          <a:ln w="19050">
            <a:solidFill>
              <a:srgbClr val="5D6577"/>
            </a:solidFill>
            <a:prstDash val="dash"/>
          </a:ln>
        </p:spPr>
        <p:style>
          <a:lnRef idx="2">
            <a:schemeClr val="accent1"/>
          </a:lnRef>
          <a:fillRef idx="0">
            <a:schemeClr val="accent1"/>
          </a:fillRef>
          <a:effectRef idx="1">
            <a:schemeClr val="accent1"/>
          </a:effectRef>
          <a:fontRef idx="minor">
            <a:schemeClr val="tx1"/>
          </a:fontRef>
        </p:style>
      </p:cxnSp>
      <p:cxnSp>
        <p:nvCxnSpPr>
          <p:cNvPr id="14" name="Last event marker"/>
          <p:cNvCxnSpPr/>
          <p:nvPr/>
        </p:nvCxnSpPr>
        <p:spPr>
          <a:xfrm>
            <a:off x="5120640" y="2468879"/>
            <a:ext cx="0" cy="731521"/>
          </a:xfrm>
          <a:prstGeom prst="line">
            <a:avLst/>
          </a:prstGeom>
          <a:ln w="254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5" name="Boot marker"/>
          <p:cNvCxnSpPr/>
          <p:nvPr/>
        </p:nvCxnSpPr>
        <p:spPr>
          <a:xfrm>
            <a:off x="6949440" y="2468879"/>
            <a:ext cx="0" cy="731521"/>
          </a:xfrm>
          <a:prstGeom prst="line">
            <a:avLst/>
          </a:prstGeom>
          <a:ln w="25400">
            <a:solidFill>
              <a:schemeClr val="accent5"/>
            </a:solidFill>
          </a:ln>
        </p:spPr>
        <p:style>
          <a:lnRef idx="2">
            <a:schemeClr val="accent1"/>
          </a:lnRef>
          <a:fillRef idx="0">
            <a:schemeClr val="accent1"/>
          </a:fillRef>
          <a:effectRef idx="1">
            <a:schemeClr val="accent1"/>
          </a:effectRef>
          <a:fontRef idx="minor">
            <a:schemeClr val="tx1"/>
          </a:fontRef>
        </p:style>
      </p:cxnSp>
      <p:sp>
        <p:nvSpPr>
          <p:cNvPr id="16" name="Event -42s"/>
          <p:cNvSpPr/>
          <p:nvPr/>
        </p:nvSpPr>
        <p:spPr>
          <a:xfrm>
            <a:off x="2011679"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vent -40s"/>
          <p:cNvSpPr/>
          <p:nvPr/>
        </p:nvSpPr>
        <p:spPr>
          <a:xfrm>
            <a:off x="2157984"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vent -38s"/>
          <p:cNvSpPr/>
          <p:nvPr/>
        </p:nvSpPr>
        <p:spPr>
          <a:xfrm>
            <a:off x="2304288"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vent -34s"/>
          <p:cNvSpPr/>
          <p:nvPr/>
        </p:nvSpPr>
        <p:spPr>
          <a:xfrm>
            <a:off x="2596896"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ent -32s"/>
          <p:cNvSpPr/>
          <p:nvPr/>
        </p:nvSpPr>
        <p:spPr>
          <a:xfrm>
            <a:off x="2743199" y="2633472"/>
            <a:ext cx="73152" cy="40233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vent -31s"/>
          <p:cNvSpPr/>
          <p:nvPr/>
        </p:nvSpPr>
        <p:spPr>
          <a:xfrm>
            <a:off x="2816351"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ent -30s"/>
          <p:cNvSpPr/>
          <p:nvPr/>
        </p:nvSpPr>
        <p:spPr>
          <a:xfrm>
            <a:off x="2889503"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vent -26s"/>
          <p:cNvSpPr/>
          <p:nvPr/>
        </p:nvSpPr>
        <p:spPr>
          <a:xfrm>
            <a:off x="3182111"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ent -22s"/>
          <p:cNvSpPr/>
          <p:nvPr/>
        </p:nvSpPr>
        <p:spPr>
          <a:xfrm>
            <a:off x="3474720"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vent -17s"/>
          <p:cNvSpPr/>
          <p:nvPr/>
        </p:nvSpPr>
        <p:spPr>
          <a:xfrm>
            <a:off x="3840480" y="2633472"/>
            <a:ext cx="73152" cy="40233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ent +3s"/>
          <p:cNvSpPr/>
          <p:nvPr/>
        </p:nvSpPr>
        <p:spPr>
          <a:xfrm>
            <a:off x="7132320" y="2633472"/>
            <a:ext cx="73152" cy="40233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vent +60s"/>
          <p:cNvSpPr/>
          <p:nvPr/>
        </p:nvSpPr>
        <p:spPr>
          <a:xfrm>
            <a:off x="11301984" y="2633472"/>
            <a:ext cx="73152" cy="40233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76856" y="3227832"/>
            <a:ext cx="1005840" cy="292608"/>
          </a:xfrm>
          <a:prstGeom prst="rect">
            <a:avLst/>
          </a:prstGeom>
          <a:noFill/>
        </p:spPr>
        <p:txBody>
          <a:bodyPr wrap="square" lIns="0" rIns="0" tIns="0" bIns="0" anchor="t">
            <a:noAutofit/>
          </a:bodyPr>
          <a:lstStyle/>
          <a:p>
            <a:pPr algn="ctr">
              <a:spcAft>
                <a:spcPts val="0"/>
              </a:spcAft>
            </a:pPr>
            <a:r>
              <a:rPr sz="1200" b="1">
                <a:solidFill>
                  <a:schemeClr val="accent2"/>
                </a:solidFill>
              </a:rPr>
              <a:t>−32 s reset</a:t>
            </a:r>
          </a:p>
        </p:txBody>
      </p:sp>
      <p:sp>
        <p:nvSpPr>
          <p:cNvPr id="29" name="TextBox 28"/>
          <p:cNvSpPr txBox="1"/>
          <p:nvPr/>
        </p:nvSpPr>
        <p:spPr>
          <a:xfrm>
            <a:off x="3374136" y="3227832"/>
            <a:ext cx="1005840" cy="292608"/>
          </a:xfrm>
          <a:prstGeom prst="rect">
            <a:avLst/>
          </a:prstGeom>
          <a:noFill/>
        </p:spPr>
        <p:txBody>
          <a:bodyPr wrap="square" lIns="0" rIns="0" tIns="0" bIns="0" anchor="t">
            <a:noAutofit/>
          </a:bodyPr>
          <a:lstStyle/>
          <a:p>
            <a:pPr algn="ctr">
              <a:spcAft>
                <a:spcPts val="0"/>
              </a:spcAft>
            </a:pPr>
            <a:r>
              <a:rPr sz="1200" b="1">
                <a:solidFill>
                  <a:schemeClr val="accent2"/>
                </a:solidFill>
              </a:rPr>
              <a:t>−17 s reset</a:t>
            </a:r>
          </a:p>
        </p:txBody>
      </p:sp>
      <p:sp>
        <p:nvSpPr>
          <p:cNvPr id="30" name="TextBox 29"/>
          <p:cNvSpPr txBox="1"/>
          <p:nvPr/>
        </p:nvSpPr>
        <p:spPr>
          <a:xfrm>
            <a:off x="7040880" y="3227832"/>
            <a:ext cx="2011680" cy="292608"/>
          </a:xfrm>
          <a:prstGeom prst="rect">
            <a:avLst/>
          </a:prstGeom>
          <a:noFill/>
        </p:spPr>
        <p:txBody>
          <a:bodyPr wrap="square" lIns="0" rIns="0" tIns="0" bIns="0" anchor="t">
            <a:noAutofit/>
          </a:bodyPr>
          <a:lstStyle/>
          <a:p>
            <a:pPr algn="l">
              <a:spcAft>
                <a:spcPts val="0"/>
              </a:spcAft>
            </a:pPr>
            <a:r>
              <a:rPr sz="1200" b="0">
                <a:solidFill>
                  <a:srgbClr val="5D6577"/>
                </a:solidFill>
              </a:rPr>
              <a:t>+3 s drive detected</a:t>
            </a:r>
          </a:p>
        </p:txBody>
      </p:sp>
      <p:sp>
        <p:nvSpPr>
          <p:cNvPr id="31" name="TextBox 30"/>
          <p:cNvSpPr txBox="1"/>
          <p:nvPr/>
        </p:nvSpPr>
        <p:spPr>
          <a:xfrm>
            <a:off x="9098280" y="3227832"/>
            <a:ext cx="2286000" cy="292608"/>
          </a:xfrm>
          <a:prstGeom prst="rect">
            <a:avLst/>
          </a:prstGeom>
          <a:noFill/>
        </p:spPr>
        <p:txBody>
          <a:bodyPr wrap="square" lIns="0" rIns="0" tIns="0" bIns="0" anchor="t">
            <a:noAutofit/>
          </a:bodyPr>
          <a:lstStyle/>
          <a:p>
            <a:pPr algn="r">
              <a:spcAft>
                <a:spcPts val="0"/>
              </a:spcAft>
            </a:pPr>
            <a:r>
              <a:rPr sz="1200" b="1">
                <a:solidFill>
                  <a:schemeClr val="accent3"/>
                </a:solidFill>
              </a:rPr>
              <a:t>+60 s Storport warning</a:t>
            </a:r>
          </a:p>
        </p:txBody>
      </p:sp>
      <p:sp>
        <p:nvSpPr>
          <p:cNvPr id="32" name="TextBox 31"/>
          <p:cNvSpPr txBox="1"/>
          <p:nvPr/>
        </p:nvSpPr>
        <p:spPr>
          <a:xfrm>
            <a:off x="548640" y="3931920"/>
            <a:ext cx="7315200" cy="365760"/>
          </a:xfrm>
          <a:prstGeom prst="rect">
            <a:avLst/>
          </a:prstGeom>
          <a:noFill/>
        </p:spPr>
        <p:txBody>
          <a:bodyPr wrap="square" lIns="0" rIns="0" tIns="0" bIns="0" anchor="t">
            <a:noAutofit/>
          </a:bodyPr>
          <a:lstStyle/>
          <a:p>
            <a:pPr algn="l">
              <a:spcAft>
                <a:spcPts val="0"/>
              </a:spcAft>
            </a:pPr>
            <a:r>
              <a:rPr sz="1600" b="1">
                <a:solidFill>
                  <a:schemeClr val="tx1"/>
                </a:solidFill>
              </a:rPr>
              <a:t>How each drive event is rated — most serious first</a:t>
            </a:r>
          </a:p>
        </p:txBody>
      </p:sp>
      <p:sp>
        <p:nvSpPr>
          <p:cNvPr id="33" name="missing chip"/>
          <p:cNvSpPr/>
          <p:nvPr/>
        </p:nvSpPr>
        <p:spPr>
          <a:xfrm>
            <a:off x="548640" y="4389120"/>
            <a:ext cx="1737360" cy="457200"/>
          </a:xfrm>
          <a:prstGeom prst="roundRect">
            <a:avLst>
              <a:gd name="adj" fmla="val 50000"/>
            </a:avLst>
          </a:prstGeom>
          <a:solidFill>
            <a:srgbClr val="FB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400" b="1">
                <a:solidFill>
                  <a:schemeClr val="accent2"/>
                </a:solidFill>
              </a:rPr>
              <a:t>missing</a:t>
            </a:r>
          </a:p>
        </p:txBody>
      </p:sp>
      <p:sp>
        <p:nvSpPr>
          <p:cNvPr id="34" name="TextBox 33"/>
          <p:cNvSpPr txBox="1"/>
          <p:nvPr/>
        </p:nvSpPr>
        <p:spPr>
          <a:xfrm>
            <a:off x="548640" y="4937760"/>
            <a:ext cx="1737360" cy="868680"/>
          </a:xfrm>
          <a:prstGeom prst="rect">
            <a:avLst/>
          </a:prstGeom>
          <a:noFill/>
        </p:spPr>
        <p:txBody>
          <a:bodyPr wrap="square" lIns="0" rIns="0" tIns="0" bIns="0" anchor="t">
            <a:noAutofit/>
          </a:bodyPr>
          <a:lstStyle/>
          <a:p>
            <a:pPr algn="l">
              <a:spcAft>
                <a:spcPts val="0"/>
              </a:spcAft>
            </a:pPr>
            <a:r>
              <a:rPr sz="1200" b="0">
                <a:solidFill>
                  <a:srgbClr val="3A4256"/>
                </a:solidFill>
              </a:rPr>
              <a:t>disk 157 — the drive dropped off the bus</a:t>
            </a:r>
          </a:p>
        </p:txBody>
      </p:sp>
      <p:sp>
        <p:nvSpPr>
          <p:cNvPr id="35" name="reset chip"/>
          <p:cNvSpPr/>
          <p:nvPr/>
        </p:nvSpPr>
        <p:spPr>
          <a:xfrm>
            <a:off x="2414016" y="4389120"/>
            <a:ext cx="1737360" cy="457200"/>
          </a:xfrm>
          <a:prstGeom prst="roundRect">
            <a:avLst>
              <a:gd name="adj" fmla="val 50000"/>
            </a:avLst>
          </a:prstGeom>
          <a:solidFill>
            <a:srgbClr val="FB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400" b="1">
                <a:solidFill>
                  <a:schemeClr val="accent2"/>
                </a:solidFill>
              </a:rPr>
              <a:t>reset</a:t>
            </a:r>
          </a:p>
        </p:txBody>
      </p:sp>
      <p:sp>
        <p:nvSpPr>
          <p:cNvPr id="36" name="TextBox 35"/>
          <p:cNvSpPr txBox="1"/>
          <p:nvPr/>
        </p:nvSpPr>
        <p:spPr>
          <a:xfrm>
            <a:off x="2414016" y="4937760"/>
            <a:ext cx="1737360" cy="868680"/>
          </a:xfrm>
          <a:prstGeom prst="rect">
            <a:avLst/>
          </a:prstGeom>
          <a:noFill/>
        </p:spPr>
        <p:txBody>
          <a:bodyPr wrap="square" lIns="0" rIns="0" tIns="0" bIns="0" anchor="t">
            <a:noAutofit/>
          </a:bodyPr>
          <a:lstStyle/>
          <a:p>
            <a:pPr algn="l">
              <a:spcAft>
                <a:spcPts val="0"/>
              </a:spcAft>
            </a:pPr>
            <a:r>
              <a:rPr sz="1200" b="0">
                <a:solidFill>
                  <a:srgbClr val="3A4256"/>
                </a:solidFill>
              </a:rPr>
              <a:t>129 — Windows reset the NVMe or SATA device</a:t>
            </a:r>
          </a:p>
        </p:txBody>
      </p:sp>
      <p:sp>
        <p:nvSpPr>
          <p:cNvPr id="37" name="error chip"/>
          <p:cNvSpPr/>
          <p:nvPr/>
        </p:nvSpPr>
        <p:spPr>
          <a:xfrm>
            <a:off x="4279392" y="4389120"/>
            <a:ext cx="1737360" cy="457200"/>
          </a:xfrm>
          <a:prstGeom prst="roundRect">
            <a:avLst>
              <a:gd name="adj" fmla="val 50000"/>
            </a:avLst>
          </a:prstGeom>
          <a:solidFill>
            <a:srgbClr val="FB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400" b="1">
                <a:solidFill>
                  <a:schemeClr val="accent2"/>
                </a:solidFill>
              </a:rPr>
              <a:t>error</a:t>
            </a:r>
          </a:p>
        </p:txBody>
      </p:sp>
      <p:sp>
        <p:nvSpPr>
          <p:cNvPr id="38" name="TextBox 37"/>
          <p:cNvSpPr txBox="1"/>
          <p:nvPr/>
        </p:nvSpPr>
        <p:spPr>
          <a:xfrm>
            <a:off x="4279392" y="4937760"/>
            <a:ext cx="1737360" cy="868680"/>
          </a:xfrm>
          <a:prstGeom prst="rect">
            <a:avLst/>
          </a:prstGeom>
          <a:noFill/>
        </p:spPr>
        <p:txBody>
          <a:bodyPr wrap="square" lIns="0" rIns="0" tIns="0" bIns="0" anchor="t">
            <a:noAutofit/>
          </a:bodyPr>
          <a:lstStyle/>
          <a:p>
            <a:pPr algn="l">
              <a:spcAft>
                <a:spcPts val="0"/>
              </a:spcAft>
            </a:pPr>
            <a:r>
              <a:rPr sz="1200" b="0">
                <a:solidFill>
                  <a:srgbClr val="3A4256"/>
                </a:solidFill>
              </a:rPr>
              <a:t>disk 7 / 11 / 51, NTFS 55 / 98 / 140</a:t>
            </a:r>
          </a:p>
        </p:txBody>
      </p:sp>
      <p:sp>
        <p:nvSpPr>
          <p:cNvPr id="39" name="slow chip"/>
          <p:cNvSpPr/>
          <p:nvPr/>
        </p:nvSpPr>
        <p:spPr>
          <a:xfrm>
            <a:off x="6144768" y="4389120"/>
            <a:ext cx="1737360" cy="457200"/>
          </a:xfrm>
          <a:prstGeom prst="roundRect">
            <a:avLst>
              <a:gd name="adj" fmla="val 50000"/>
            </a:avLst>
          </a:prstGeom>
          <a:solidFill>
            <a:srgbClr val="FCF1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400" b="1">
                <a:solidFill>
                  <a:schemeClr val="accent3"/>
                </a:solidFill>
              </a:rPr>
              <a:t>slow</a:t>
            </a:r>
          </a:p>
        </p:txBody>
      </p:sp>
      <p:sp>
        <p:nvSpPr>
          <p:cNvPr id="40" name="TextBox 39"/>
          <p:cNvSpPr txBox="1"/>
          <p:nvPr/>
        </p:nvSpPr>
        <p:spPr>
          <a:xfrm>
            <a:off x="6144768" y="4937760"/>
            <a:ext cx="1737360" cy="868680"/>
          </a:xfrm>
          <a:prstGeom prst="rect">
            <a:avLst/>
          </a:prstGeom>
          <a:noFill/>
        </p:spPr>
        <p:txBody>
          <a:bodyPr wrap="square" lIns="0" rIns="0" tIns="0" bIns="0" anchor="t">
            <a:noAutofit/>
          </a:bodyPr>
          <a:lstStyle/>
          <a:p>
            <a:pPr algn="l">
              <a:spcAft>
                <a:spcPts val="0"/>
              </a:spcAft>
            </a:pPr>
            <a:r>
              <a:rPr sz="1200" b="0">
                <a:solidFill>
                  <a:srgbClr val="3A4256"/>
                </a:solidFill>
              </a:rPr>
              <a:t>disk 153 — an I/O had to be retried</a:t>
            </a:r>
          </a:p>
        </p:txBody>
      </p:sp>
      <p:sp>
        <p:nvSpPr>
          <p:cNvPr id="41" name="warning chip"/>
          <p:cNvSpPr/>
          <p:nvPr/>
        </p:nvSpPr>
        <p:spPr>
          <a:xfrm>
            <a:off x="8010144" y="4389120"/>
            <a:ext cx="1737360" cy="457200"/>
          </a:xfrm>
          <a:prstGeom prst="roundRect">
            <a:avLst>
              <a:gd name="adj" fmla="val 50000"/>
            </a:avLst>
          </a:prstGeom>
          <a:solidFill>
            <a:srgbClr val="FCF1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400" b="1">
                <a:solidFill>
                  <a:schemeClr val="accent3"/>
                </a:solidFill>
              </a:rPr>
              <a:t>warning</a:t>
            </a:r>
          </a:p>
        </p:txBody>
      </p:sp>
      <p:sp>
        <p:nvSpPr>
          <p:cNvPr id="42" name="TextBox 41"/>
          <p:cNvSpPr txBox="1"/>
          <p:nvPr/>
        </p:nvSpPr>
        <p:spPr>
          <a:xfrm>
            <a:off x="8010144" y="4937760"/>
            <a:ext cx="1737360" cy="868680"/>
          </a:xfrm>
          <a:prstGeom prst="rect">
            <a:avLst/>
          </a:prstGeom>
          <a:noFill/>
        </p:spPr>
        <p:txBody>
          <a:bodyPr wrap="square" lIns="0" rIns="0" tIns="0" bIns="0" anchor="t">
            <a:noAutofit/>
          </a:bodyPr>
          <a:lstStyle/>
          <a:p>
            <a:pPr algn="l">
              <a:spcAft>
                <a:spcPts val="0"/>
              </a:spcAft>
            </a:pPr>
            <a:r>
              <a:rPr sz="1200" b="0">
                <a:solidFill>
                  <a:srgbClr val="3A4256"/>
                </a:solidFill>
              </a:rPr>
              <a:t>other warnings, e.g. Storport, WHEA</a:t>
            </a:r>
          </a:p>
        </p:txBody>
      </p:sp>
      <p:sp>
        <p:nvSpPr>
          <p:cNvPr id="43" name="info chip"/>
          <p:cNvSpPr/>
          <p:nvPr/>
        </p:nvSpPr>
        <p:spPr>
          <a:xfrm>
            <a:off x="9875519" y="4389120"/>
            <a:ext cx="1737360" cy="457200"/>
          </a:xfrm>
          <a:prstGeom prst="roundRect">
            <a:avLst>
              <a:gd name="adj" fmla="val 50000"/>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400" b="1">
                <a:solidFill>
                  <a:schemeClr val="accent6"/>
                </a:solidFill>
              </a:rPr>
              <a:t>info</a:t>
            </a:r>
          </a:p>
        </p:txBody>
      </p:sp>
      <p:sp>
        <p:nvSpPr>
          <p:cNvPr id="44" name="TextBox 43"/>
          <p:cNvSpPr txBox="1"/>
          <p:nvPr/>
        </p:nvSpPr>
        <p:spPr>
          <a:xfrm>
            <a:off x="9875519" y="4937760"/>
            <a:ext cx="1737360" cy="868680"/>
          </a:xfrm>
          <a:prstGeom prst="rect">
            <a:avLst/>
          </a:prstGeom>
          <a:noFill/>
        </p:spPr>
        <p:txBody>
          <a:bodyPr wrap="square" lIns="0" rIns="0" tIns="0" bIns="0" anchor="t">
            <a:noAutofit/>
          </a:bodyPr>
          <a:lstStyle/>
          <a:p>
            <a:pPr algn="l">
              <a:spcAft>
                <a:spcPts val="0"/>
              </a:spcAft>
            </a:pPr>
            <a:r>
              <a:rPr sz="1200" b="0">
                <a:solidFill>
                  <a:srgbClr val="3A4256"/>
                </a:solidFill>
              </a:rPr>
              <a:t>listed with its fields, never counted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How WELA decides whether the drive caused it</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THE DRIVE VERDICT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11</a:t>
            </a:r>
          </a:p>
        </p:txBody>
      </p:sp>
      <p:sp>
        <p:nvSpPr>
          <p:cNvPr id="5" name="Likely card"/>
          <p:cNvSpPr/>
          <p:nvPr/>
        </p:nvSpPr>
        <p:spPr>
          <a:xfrm>
            <a:off x="548640" y="1691640"/>
            <a:ext cx="2624328" cy="3017520"/>
          </a:xfrm>
          <a:prstGeom prst="roundRect">
            <a:avLst>
              <a:gd name="adj" fmla="val 4878"/>
            </a:avLst>
          </a:prstGeom>
          <a:solidFill>
            <a:srgbClr val="FB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938528"/>
            <a:ext cx="1828800" cy="685800"/>
          </a:xfrm>
          <a:prstGeom prst="rect">
            <a:avLst/>
          </a:prstGeom>
          <a:noFill/>
        </p:spPr>
        <p:txBody>
          <a:bodyPr wrap="square" lIns="0" rIns="0" tIns="0" bIns="0" anchor="t">
            <a:noAutofit/>
          </a:bodyPr>
          <a:lstStyle/>
          <a:p>
            <a:pPr algn="l">
              <a:spcAft>
                <a:spcPts val="0"/>
              </a:spcAft>
            </a:pPr>
            <a:r>
              <a:rPr sz="2000" b="1">
                <a:solidFill>
                  <a:schemeClr val="accent2"/>
                </a:solidFill>
              </a:rPr>
              <a:t>Likely</a:t>
            </a:r>
          </a:p>
        </p:txBody>
      </p:sp>
      <p:sp>
        <p:nvSpPr>
          <p:cNvPr id="7" name="Rule order"/>
          <p:cNvSpPr txBox="1"/>
          <p:nvPr/>
        </p:nvSpPr>
        <p:spPr>
          <a:xfrm>
            <a:off x="2560320" y="1984248"/>
            <a:ext cx="365760" cy="365760"/>
          </a:xfrm>
          <a:prstGeom prst="rect">
            <a:avLst/>
          </a:prstGeom>
          <a:noFill/>
        </p:spPr>
        <p:txBody>
          <a:bodyPr wrap="square" lIns="0" rIns="0" tIns="0" bIns="0" anchor="t">
            <a:noAutofit/>
          </a:bodyPr>
          <a:lstStyle/>
          <a:p>
            <a:pPr algn="r">
              <a:spcAft>
                <a:spcPts val="0"/>
              </a:spcAft>
            </a:pPr>
            <a:r>
              <a:rPr sz="1400" b="1">
                <a:solidFill>
                  <a:schemeClr val="accent2"/>
                </a:solidFill>
              </a:rPr>
              <a:t>1</a:t>
            </a:r>
          </a:p>
        </p:txBody>
      </p:sp>
      <p:sp>
        <p:nvSpPr>
          <p:cNvPr id="8" name="TextBox 7"/>
          <p:cNvSpPr txBox="1"/>
          <p:nvPr/>
        </p:nvSpPr>
        <p:spPr>
          <a:xfrm>
            <a:off x="822959" y="2697480"/>
            <a:ext cx="2075688" cy="2148840"/>
          </a:xfrm>
          <a:prstGeom prst="rect">
            <a:avLst/>
          </a:prstGeom>
          <a:noFill/>
        </p:spPr>
        <p:txBody>
          <a:bodyPr wrap="square" lIns="0" rIns="0" tIns="0" bIns="0" anchor="t">
            <a:noAutofit/>
          </a:bodyPr>
          <a:lstStyle/>
          <a:p>
            <a:pPr algn="l">
              <a:spcAft>
                <a:spcPts val="800"/>
              </a:spcAft>
            </a:pPr>
            <a:r>
              <a:rPr sz="1400" b="0">
                <a:solidFill>
                  <a:srgbClr val="3A4256"/>
                </a:solidFill>
              </a:rPr>
              <a:t>The drive reset, errored or dropped off the bus in the minute before power-off.</a:t>
            </a:r>
          </a:p>
          <a:p>
            <a:pPr algn="l">
              <a:spcAft>
                <a:spcPts val="800"/>
              </a:spcAft>
            </a:pPr>
            <a:r>
              <a:rPr sz="1400" b="0">
                <a:solidFill>
                  <a:srgbClr val="3A4256"/>
                </a:solidFill>
              </a:rPr>
              <a:t>Or the crash code points at storage: 0x7A, 0x77, 0x7B, 0xED, 0xF4.</a:t>
            </a:r>
          </a:p>
        </p:txBody>
      </p:sp>
      <p:sp>
        <p:nvSpPr>
          <p:cNvPr id="9" name="Possibly card"/>
          <p:cNvSpPr/>
          <p:nvPr/>
        </p:nvSpPr>
        <p:spPr>
          <a:xfrm>
            <a:off x="3355848" y="1691640"/>
            <a:ext cx="2624328" cy="3017520"/>
          </a:xfrm>
          <a:prstGeom prst="roundRect">
            <a:avLst>
              <a:gd name="adj" fmla="val 4878"/>
            </a:avLst>
          </a:prstGeom>
          <a:solidFill>
            <a:srgbClr val="FCF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938528"/>
            <a:ext cx="1828800" cy="685800"/>
          </a:xfrm>
          <a:prstGeom prst="rect">
            <a:avLst/>
          </a:prstGeom>
          <a:noFill/>
        </p:spPr>
        <p:txBody>
          <a:bodyPr wrap="square" lIns="0" rIns="0" tIns="0" bIns="0" anchor="t">
            <a:noAutofit/>
          </a:bodyPr>
          <a:lstStyle/>
          <a:p>
            <a:pPr algn="l">
              <a:spcAft>
                <a:spcPts val="0"/>
              </a:spcAft>
            </a:pPr>
            <a:r>
              <a:rPr sz="2000" b="1">
                <a:solidFill>
                  <a:schemeClr val="accent3"/>
                </a:solidFill>
              </a:rPr>
              <a:t>Possibly</a:t>
            </a:r>
          </a:p>
        </p:txBody>
      </p:sp>
      <p:sp>
        <p:nvSpPr>
          <p:cNvPr id="11" name="Rule order"/>
          <p:cNvSpPr txBox="1"/>
          <p:nvPr/>
        </p:nvSpPr>
        <p:spPr>
          <a:xfrm>
            <a:off x="5367528" y="1984248"/>
            <a:ext cx="365760" cy="365760"/>
          </a:xfrm>
          <a:prstGeom prst="rect">
            <a:avLst/>
          </a:prstGeom>
          <a:noFill/>
        </p:spPr>
        <p:txBody>
          <a:bodyPr wrap="square" lIns="0" rIns="0" tIns="0" bIns="0" anchor="t">
            <a:noAutofit/>
          </a:bodyPr>
          <a:lstStyle/>
          <a:p>
            <a:pPr algn="r">
              <a:spcAft>
                <a:spcPts val="0"/>
              </a:spcAft>
            </a:pPr>
            <a:r>
              <a:rPr sz="1400" b="1">
                <a:solidFill>
                  <a:schemeClr val="accent3"/>
                </a:solidFill>
              </a:rPr>
              <a:t>2</a:t>
            </a:r>
          </a:p>
        </p:txBody>
      </p:sp>
      <p:sp>
        <p:nvSpPr>
          <p:cNvPr id="12" name="TextBox 11"/>
          <p:cNvSpPr txBox="1"/>
          <p:nvPr/>
        </p:nvSpPr>
        <p:spPr>
          <a:xfrm>
            <a:off x="3630168" y="2697480"/>
            <a:ext cx="2075688" cy="2148840"/>
          </a:xfrm>
          <a:prstGeom prst="rect">
            <a:avLst/>
          </a:prstGeom>
          <a:noFill/>
        </p:spPr>
        <p:txBody>
          <a:bodyPr wrap="square" lIns="0" rIns="0" tIns="0" bIns="0" anchor="t">
            <a:noAutofit/>
          </a:bodyPr>
          <a:lstStyle/>
          <a:p>
            <a:pPr algn="l">
              <a:spcAft>
                <a:spcPts val="800"/>
              </a:spcAft>
            </a:pPr>
            <a:r>
              <a:rPr sz="1400" b="0">
                <a:solidFill>
                  <a:srgbClr val="3A4256"/>
                </a:solidFill>
              </a:rPr>
              <a:t>Slow I/O or warnings before power-off, or only WHEA hardware errors.</a:t>
            </a:r>
          </a:p>
          <a:p>
            <a:pPr algn="l">
              <a:spcAft>
                <a:spcPts val="800"/>
              </a:spcAft>
            </a:pPr>
            <a:r>
              <a:rPr sz="1400" b="0">
                <a:solidFill>
                  <a:srgbClr val="3A4256"/>
                </a:solidFill>
              </a:rPr>
              <a:t>Or a crash code that’s sometimes storage: 0x9F, 0x24, 0xEF, 0x133, 0x154.</a:t>
            </a:r>
          </a:p>
        </p:txBody>
      </p:sp>
      <p:sp>
        <p:nvSpPr>
          <p:cNvPr id="13" name="No drive evidence card"/>
          <p:cNvSpPr/>
          <p:nvPr/>
        </p:nvSpPr>
        <p:spPr>
          <a:xfrm>
            <a:off x="6163055" y="1691640"/>
            <a:ext cx="2624328" cy="3017520"/>
          </a:xfrm>
          <a:prstGeom prst="roundRect">
            <a:avLst>
              <a:gd name="adj" fmla="val 4878"/>
            </a:avLst>
          </a:prstGeom>
          <a:solidFill>
            <a:srgbClr val="E8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5" y="1938528"/>
            <a:ext cx="1828800" cy="685800"/>
          </a:xfrm>
          <a:prstGeom prst="rect">
            <a:avLst/>
          </a:prstGeom>
          <a:noFill/>
        </p:spPr>
        <p:txBody>
          <a:bodyPr wrap="square" lIns="0" rIns="0" tIns="0" bIns="0" anchor="t">
            <a:noAutofit/>
          </a:bodyPr>
          <a:lstStyle/>
          <a:p>
            <a:pPr algn="l">
              <a:spcAft>
                <a:spcPts val="0"/>
              </a:spcAft>
            </a:pPr>
            <a:r>
              <a:rPr sz="2000" b="1">
                <a:solidFill>
                  <a:schemeClr val="accent1"/>
                </a:solidFill>
              </a:rPr>
              <a:t>No drive evidence</a:t>
            </a:r>
          </a:p>
        </p:txBody>
      </p:sp>
      <p:sp>
        <p:nvSpPr>
          <p:cNvPr id="15" name="Rule order"/>
          <p:cNvSpPr txBox="1"/>
          <p:nvPr/>
        </p:nvSpPr>
        <p:spPr>
          <a:xfrm>
            <a:off x="8174736" y="1984248"/>
            <a:ext cx="365760" cy="365760"/>
          </a:xfrm>
          <a:prstGeom prst="rect">
            <a:avLst/>
          </a:prstGeom>
          <a:noFill/>
        </p:spPr>
        <p:txBody>
          <a:bodyPr wrap="square" lIns="0" rIns="0" tIns="0" bIns="0" anchor="t">
            <a:noAutofit/>
          </a:bodyPr>
          <a:lstStyle/>
          <a:p>
            <a:pPr algn="r">
              <a:spcAft>
                <a:spcPts val="0"/>
              </a:spcAft>
            </a:pPr>
            <a:r>
              <a:rPr sz="1400" b="1">
                <a:solidFill>
                  <a:schemeClr val="accent1"/>
                </a:solidFill>
              </a:rPr>
              <a:t>3</a:t>
            </a:r>
          </a:p>
        </p:txBody>
      </p:sp>
      <p:sp>
        <p:nvSpPr>
          <p:cNvPr id="16" name="TextBox 15"/>
          <p:cNvSpPr txBox="1"/>
          <p:nvPr/>
        </p:nvSpPr>
        <p:spPr>
          <a:xfrm>
            <a:off x="6437375" y="2697480"/>
            <a:ext cx="2075688" cy="2148840"/>
          </a:xfrm>
          <a:prstGeom prst="rect">
            <a:avLst/>
          </a:prstGeom>
          <a:noFill/>
        </p:spPr>
        <p:txBody>
          <a:bodyPr wrap="square" lIns="0" rIns="0" tIns="0" bIns="0" anchor="t">
            <a:noAutofit/>
          </a:bodyPr>
          <a:lstStyle/>
          <a:p>
            <a:pPr algn="l">
              <a:spcAft>
                <a:spcPts val="800"/>
              </a:spcAft>
            </a:pPr>
            <a:r>
              <a:rPr sz="1400" b="0">
                <a:solidFill>
                  <a:srgbClr val="3A4256"/>
                </a:solidFill>
              </a:rPr>
              <a:t>Logs cover that minute and the drive logged no warnings or errors.</a:t>
            </a:r>
          </a:p>
          <a:p>
            <a:pPr algn="l">
              <a:spcAft>
                <a:spcPts val="800"/>
              </a:spcAft>
            </a:pPr>
            <a:r>
              <a:rPr sz="1400" b="0">
                <a:solidFill>
                  <a:srgbClr val="3A4256"/>
                </a:solidFill>
              </a:rPr>
              <a:t>A quiet log is not proof the drive is fine.</a:t>
            </a:r>
          </a:p>
        </p:txBody>
      </p:sp>
      <p:sp>
        <p:nvSpPr>
          <p:cNvPr id="17" name="Can’t tell card"/>
          <p:cNvSpPr/>
          <p:nvPr/>
        </p:nvSpPr>
        <p:spPr>
          <a:xfrm>
            <a:off x="8970263" y="1691640"/>
            <a:ext cx="2624328" cy="3017520"/>
          </a:xfrm>
          <a:prstGeom prst="roundRect">
            <a:avLst>
              <a:gd name="adj" fmla="val 4878"/>
            </a:avLst>
          </a:prstGeom>
          <a:solidFill>
            <a:srgbClr val="EEF0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44584" y="1938528"/>
            <a:ext cx="1828800" cy="685800"/>
          </a:xfrm>
          <a:prstGeom prst="rect">
            <a:avLst/>
          </a:prstGeom>
          <a:noFill/>
        </p:spPr>
        <p:txBody>
          <a:bodyPr wrap="square" lIns="0" rIns="0" tIns="0" bIns="0" anchor="t">
            <a:noAutofit/>
          </a:bodyPr>
          <a:lstStyle/>
          <a:p>
            <a:pPr algn="l">
              <a:spcAft>
                <a:spcPts val="0"/>
              </a:spcAft>
            </a:pPr>
            <a:r>
              <a:rPr sz="2000" b="1">
                <a:solidFill>
                  <a:schemeClr val="accent6"/>
                </a:solidFill>
              </a:rPr>
              <a:t>Can’t tell</a:t>
            </a:r>
          </a:p>
        </p:txBody>
      </p:sp>
      <p:sp>
        <p:nvSpPr>
          <p:cNvPr id="19" name="Rule order"/>
          <p:cNvSpPr txBox="1"/>
          <p:nvPr/>
        </p:nvSpPr>
        <p:spPr>
          <a:xfrm>
            <a:off x="10981943" y="1984248"/>
            <a:ext cx="365760" cy="365760"/>
          </a:xfrm>
          <a:prstGeom prst="rect">
            <a:avLst/>
          </a:prstGeom>
          <a:noFill/>
        </p:spPr>
        <p:txBody>
          <a:bodyPr wrap="square" lIns="0" rIns="0" tIns="0" bIns="0" anchor="t">
            <a:noAutofit/>
          </a:bodyPr>
          <a:lstStyle/>
          <a:p>
            <a:pPr algn="r">
              <a:spcAft>
                <a:spcPts val="0"/>
              </a:spcAft>
            </a:pPr>
            <a:r>
              <a:rPr sz="1400" b="1">
                <a:solidFill>
                  <a:schemeClr val="accent6"/>
                </a:solidFill>
              </a:rPr>
              <a:t>4</a:t>
            </a:r>
          </a:p>
        </p:txBody>
      </p:sp>
      <p:sp>
        <p:nvSpPr>
          <p:cNvPr id="20" name="TextBox 19"/>
          <p:cNvSpPr txBox="1"/>
          <p:nvPr/>
        </p:nvSpPr>
        <p:spPr>
          <a:xfrm>
            <a:off x="9244584" y="2697480"/>
            <a:ext cx="2075688" cy="2148840"/>
          </a:xfrm>
          <a:prstGeom prst="rect">
            <a:avLst/>
          </a:prstGeom>
          <a:noFill/>
        </p:spPr>
        <p:txBody>
          <a:bodyPr wrap="square" lIns="0" rIns="0" tIns="0" bIns="0" anchor="t">
            <a:noAutofit/>
          </a:bodyPr>
          <a:lstStyle/>
          <a:p>
            <a:pPr algn="l">
              <a:spcAft>
                <a:spcPts val="800"/>
              </a:spcAft>
            </a:pPr>
            <a:r>
              <a:rPr sz="1400" b="0">
                <a:solidFill>
                  <a:srgbClr val="3A4256"/>
                </a:solidFill>
              </a:rPr>
              <a:t>No log covers that minute, or the log starts at this boot.</a:t>
            </a:r>
          </a:p>
        </p:txBody>
      </p:sp>
      <p:sp>
        <p:nvSpPr>
          <p:cNvPr id="21" name="check icon circle"/>
          <p:cNvSpPr/>
          <p:nvPr/>
        </p:nvSpPr>
        <p:spPr>
          <a:xfrm>
            <a:off x="548640" y="5138928"/>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check icon" descr="check icon"/>
          <p:cNvPicPr>
            <a:picLocks noChangeAspect="1"/>
          </p:cNvPicPr>
          <p:nvPr/>
        </p:nvPicPr>
        <p:blipFill>
          <a:blip r:embed="rId3"/>
          <a:stretch>
            <a:fillRect/>
          </a:stretch>
        </p:blipFill>
        <p:spPr>
          <a:xfrm>
            <a:off x="649224" y="5239512"/>
            <a:ext cx="256032" cy="256032"/>
          </a:xfrm>
          <a:prstGeom prst="rect">
            <a:avLst/>
          </a:prstGeom>
        </p:spPr>
      </p:pic>
      <p:sp>
        <p:nvSpPr>
          <p:cNvPr id="23" name="TextBox 22"/>
          <p:cNvSpPr txBox="1"/>
          <p:nvPr/>
        </p:nvSpPr>
        <p:spPr>
          <a:xfrm>
            <a:off x="1143000" y="5029200"/>
            <a:ext cx="2971800" cy="685800"/>
          </a:xfrm>
          <a:prstGeom prst="rect">
            <a:avLst/>
          </a:prstGeom>
          <a:noFill/>
        </p:spPr>
        <p:txBody>
          <a:bodyPr wrap="square" lIns="0" rIns="0" tIns="0" bIns="0" anchor="ctr">
            <a:noAutofit/>
          </a:bodyPr>
          <a:lstStyle/>
          <a:p>
            <a:pPr algn="l">
              <a:spcAft>
                <a:spcPts val="0"/>
              </a:spcAft>
            </a:pPr>
            <a:r>
              <a:rPr sz="1400" b="1">
                <a:solidFill>
                  <a:schemeClr val="tx1"/>
                </a:solidFill>
              </a:rPr>
              <a:t>Normal shutdowns</a:t>
            </a:r>
            <a:r>
              <a:rPr sz="1400" b="0">
                <a:solidFill>
                  <a:schemeClr val="tx1"/>
                </a:solidFill>
              </a:rPr>
              <a:t> and restarts get “No (orderly)”</a:t>
            </a:r>
          </a:p>
        </p:txBody>
      </p:sp>
      <p:sp>
        <p:nvSpPr>
          <p:cNvPr id="24" name="help icon circle"/>
          <p:cNvSpPr/>
          <p:nvPr/>
        </p:nvSpPr>
        <p:spPr>
          <a:xfrm>
            <a:off x="4297679" y="5138928"/>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help icon" descr="help icon"/>
          <p:cNvPicPr>
            <a:picLocks noChangeAspect="1"/>
          </p:cNvPicPr>
          <p:nvPr/>
        </p:nvPicPr>
        <p:blipFill>
          <a:blip r:embed="rId4"/>
          <a:stretch>
            <a:fillRect/>
          </a:stretch>
        </p:blipFill>
        <p:spPr>
          <a:xfrm>
            <a:off x="4398264" y="5239512"/>
            <a:ext cx="256032" cy="256032"/>
          </a:xfrm>
          <a:prstGeom prst="rect">
            <a:avLst/>
          </a:prstGeom>
        </p:spPr>
      </p:pic>
      <p:sp>
        <p:nvSpPr>
          <p:cNvPr id="26" name="TextBox 25"/>
          <p:cNvSpPr txBox="1"/>
          <p:nvPr/>
        </p:nvSpPr>
        <p:spPr>
          <a:xfrm>
            <a:off x="4892040" y="5029200"/>
            <a:ext cx="2971800" cy="685800"/>
          </a:xfrm>
          <a:prstGeom prst="rect">
            <a:avLst/>
          </a:prstGeom>
          <a:noFill/>
        </p:spPr>
        <p:txBody>
          <a:bodyPr wrap="square" lIns="0" rIns="0" tIns="0" bIns="0" anchor="ctr">
            <a:noAutofit/>
          </a:bodyPr>
          <a:lstStyle/>
          <a:p>
            <a:pPr algn="l">
              <a:spcAft>
                <a:spcPts val="0"/>
              </a:spcAft>
            </a:pPr>
            <a:r>
              <a:rPr sz="1400" b="1">
                <a:solidFill>
                  <a:schemeClr val="tx1"/>
                </a:solidFill>
              </a:rPr>
              <a:t>Undetermined power cycle:</a:t>
            </a:r>
            <a:r>
              <a:rPr sz="1400" b="0">
                <a:solidFill>
                  <a:schemeClr val="tx1"/>
                </a:solidFill>
              </a:rPr>
              <a:t> Likely drops to Possibly</a:t>
            </a:r>
          </a:p>
        </p:txBody>
      </p:sp>
      <p:sp>
        <p:nvSpPr>
          <p:cNvPr id="27" name="clock icon circle"/>
          <p:cNvSpPr/>
          <p:nvPr/>
        </p:nvSpPr>
        <p:spPr>
          <a:xfrm>
            <a:off x="8046719" y="5138928"/>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clock icon" descr="clock icon"/>
          <p:cNvPicPr>
            <a:picLocks noChangeAspect="1"/>
          </p:cNvPicPr>
          <p:nvPr/>
        </p:nvPicPr>
        <p:blipFill>
          <a:blip r:embed="rId5"/>
          <a:stretch>
            <a:fillRect/>
          </a:stretch>
        </p:blipFill>
        <p:spPr>
          <a:xfrm>
            <a:off x="8147303" y="5239512"/>
            <a:ext cx="256032" cy="256032"/>
          </a:xfrm>
          <a:prstGeom prst="rect">
            <a:avLst/>
          </a:prstGeom>
        </p:spPr>
      </p:pic>
      <p:sp>
        <p:nvSpPr>
          <p:cNvPr id="29" name="TextBox 28"/>
          <p:cNvSpPr txBox="1"/>
          <p:nvPr/>
        </p:nvSpPr>
        <p:spPr>
          <a:xfrm>
            <a:off x="8641080" y="5029200"/>
            <a:ext cx="2971800" cy="685800"/>
          </a:xfrm>
          <a:prstGeom prst="rect">
            <a:avLst/>
          </a:prstGeom>
          <a:noFill/>
        </p:spPr>
        <p:txBody>
          <a:bodyPr wrap="square" lIns="0" rIns="0" tIns="0" bIns="0" anchor="ctr">
            <a:noAutofit/>
          </a:bodyPr>
          <a:lstStyle/>
          <a:p>
            <a:pPr algn="l">
              <a:spcAft>
                <a:spcPts val="0"/>
              </a:spcAft>
            </a:pPr>
            <a:r>
              <a:rPr sz="1400" b="1">
                <a:solidFill>
                  <a:schemeClr val="tx1"/>
                </a:solidFill>
              </a:rPr>
              <a:t>Effect on the drive</a:t>
            </a:r>
            <a:r>
              <a:rPr sz="1400" b="0">
                <a:solidFill>
                  <a:schemeClr val="tx1"/>
                </a:solidFill>
              </a:rPr>
              <a:t> is scored separately, from the minute after boot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Example: a power loss right after two NVMe resets</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THE DRIVE VERDICT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12</a:t>
            </a:r>
          </a:p>
        </p:txBody>
      </p:sp>
      <p:pic>
        <p:nvPicPr>
          <p:cNvPr id="5" name="T5 screenshot" descr="WELA detail panel for power cycle T5: verdict Likely, reasons, and the drive events in the minute before power-off"/>
          <p:cNvPicPr>
            <a:picLocks noChangeAspect="1"/>
          </p:cNvPicPr>
          <p:nvPr/>
        </p:nvPicPr>
        <p:blipFill>
          <a:blip r:embed="rId3"/>
          <a:stretch>
            <a:fillRect/>
          </a:stretch>
        </p:blipFill>
        <p:spPr>
          <a:xfrm>
            <a:off x="7790688" y="1508760"/>
            <a:ext cx="3853628" cy="4754880"/>
          </a:xfrm>
          <a:prstGeom prst="rect">
            <a:avLst/>
          </a:prstGeom>
          <a:ln w="12700">
            <a:solidFill>
              <a:srgbClr val="D5DAE5"/>
            </a:solidFill>
          </a:ln>
        </p:spPr>
      </p:pic>
      <p:sp>
        <p:nvSpPr>
          <p:cNvPr id="6" name="Step 1"/>
          <p:cNvSpPr/>
          <p:nvPr/>
        </p:nvSpPr>
        <p:spPr>
          <a:xfrm>
            <a:off x="548640" y="1737360"/>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700" b="1">
                <a:solidFill>
                  <a:schemeClr val="bg1"/>
                </a:solidFill>
              </a:rPr>
              <a:t>1</a:t>
            </a:r>
          </a:p>
        </p:txBody>
      </p:sp>
      <p:sp>
        <p:nvSpPr>
          <p:cNvPr id="7" name="TextBox 6"/>
          <p:cNvSpPr txBox="1"/>
          <p:nvPr/>
        </p:nvSpPr>
        <p:spPr>
          <a:xfrm>
            <a:off x="1280160" y="1709928"/>
            <a:ext cx="6035040" cy="365760"/>
          </a:xfrm>
          <a:prstGeom prst="rect">
            <a:avLst/>
          </a:prstGeom>
          <a:noFill/>
        </p:spPr>
        <p:txBody>
          <a:bodyPr wrap="square" lIns="0" rIns="0" tIns="0" bIns="0" anchor="t">
            <a:noAutofit/>
          </a:bodyPr>
          <a:lstStyle/>
          <a:p>
            <a:pPr algn="l">
              <a:spcAft>
                <a:spcPts val="0"/>
              </a:spcAft>
            </a:pPr>
            <a:r>
              <a:rPr sz="1800" b="1">
                <a:solidFill>
                  <a:schemeClr val="tx1"/>
                </a:solidFill>
              </a:rPr>
              <a:t>Hard shutdown at 11:42:12</a:t>
            </a:r>
          </a:p>
        </p:txBody>
      </p:sp>
      <p:sp>
        <p:nvSpPr>
          <p:cNvPr id="8" name="TextBox 7"/>
          <p:cNvSpPr txBox="1"/>
          <p:nvPr/>
        </p:nvSpPr>
        <p:spPr>
          <a:xfrm>
            <a:off x="1280160" y="2103120"/>
            <a:ext cx="6035040" cy="640080"/>
          </a:xfrm>
          <a:prstGeom prst="rect">
            <a:avLst/>
          </a:prstGeom>
          <a:noFill/>
        </p:spPr>
        <p:txBody>
          <a:bodyPr wrap="square" lIns="0" rIns="0" tIns="0" bIns="0" anchor="t">
            <a:noAutofit/>
          </a:bodyPr>
          <a:lstStyle/>
          <a:p>
            <a:pPr algn="l">
              <a:spcAft>
                <a:spcPts val="0"/>
              </a:spcAft>
            </a:pPr>
            <a:r>
              <a:rPr sz="1500" b="0">
                <a:solidFill>
                  <a:srgbClr val="3A4256"/>
                </a:solidFill>
              </a:rPr>
              <a:t>No clean stop; event 41 logged on the next boot.</a:t>
            </a:r>
          </a:p>
        </p:txBody>
      </p:sp>
      <p:sp>
        <p:nvSpPr>
          <p:cNvPr id="9" name="Step 2"/>
          <p:cNvSpPr/>
          <p:nvPr/>
        </p:nvSpPr>
        <p:spPr>
          <a:xfrm>
            <a:off x="548640" y="2834639"/>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700" b="1">
                <a:solidFill>
                  <a:schemeClr val="bg1"/>
                </a:solidFill>
              </a:rPr>
              <a:t>2</a:t>
            </a:r>
          </a:p>
        </p:txBody>
      </p:sp>
      <p:sp>
        <p:nvSpPr>
          <p:cNvPr id="10" name="TextBox 9"/>
          <p:cNvSpPr txBox="1"/>
          <p:nvPr/>
        </p:nvSpPr>
        <p:spPr>
          <a:xfrm>
            <a:off x="1280160" y="2807208"/>
            <a:ext cx="6035040" cy="365760"/>
          </a:xfrm>
          <a:prstGeom prst="rect">
            <a:avLst/>
          </a:prstGeom>
          <a:noFill/>
        </p:spPr>
        <p:txBody>
          <a:bodyPr wrap="square" lIns="0" rIns="0" tIns="0" bIns="0" anchor="t">
            <a:noAutofit/>
          </a:bodyPr>
          <a:lstStyle/>
          <a:p>
            <a:pPr algn="l">
              <a:spcAft>
                <a:spcPts val="0"/>
              </a:spcAft>
            </a:pPr>
            <a:r>
              <a:rPr sz="1800" b="1">
                <a:solidFill>
                  <a:schemeClr val="tx1"/>
                </a:solidFill>
              </a:rPr>
              <a:t>The minute before power-off</a:t>
            </a:r>
          </a:p>
        </p:txBody>
      </p:sp>
      <p:sp>
        <p:nvSpPr>
          <p:cNvPr id="11" name="TextBox 10"/>
          <p:cNvSpPr txBox="1"/>
          <p:nvPr/>
        </p:nvSpPr>
        <p:spPr>
          <a:xfrm>
            <a:off x="1280160" y="3200399"/>
            <a:ext cx="6035040" cy="640080"/>
          </a:xfrm>
          <a:prstGeom prst="rect">
            <a:avLst/>
          </a:prstGeom>
          <a:noFill/>
        </p:spPr>
        <p:txBody>
          <a:bodyPr wrap="square" lIns="0" rIns="0" tIns="0" bIns="0" anchor="t">
            <a:noAutofit/>
          </a:bodyPr>
          <a:lstStyle/>
          <a:p>
            <a:pPr algn="l">
              <a:spcAft>
                <a:spcPts val="0"/>
              </a:spcAft>
            </a:pPr>
            <a:r>
              <a:rPr sz="1500" b="0">
                <a:solidFill>
                  <a:srgbClr val="3A4256"/>
                </a:solidFill>
              </a:rPr>
              <a:t>5 I/O retries, 3 Storport 549 warnings, and NVMe resets at −32 s and −17 s.</a:t>
            </a:r>
          </a:p>
        </p:txBody>
      </p:sp>
      <p:sp>
        <p:nvSpPr>
          <p:cNvPr id="12" name="Step 3"/>
          <p:cNvSpPr/>
          <p:nvPr/>
        </p:nvSpPr>
        <p:spPr>
          <a:xfrm>
            <a:off x="548640" y="3931920"/>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700" b="1">
                <a:solidFill>
                  <a:schemeClr val="bg1"/>
                </a:solidFill>
              </a:rPr>
              <a:t>3</a:t>
            </a:r>
          </a:p>
        </p:txBody>
      </p:sp>
      <p:sp>
        <p:nvSpPr>
          <p:cNvPr id="13" name="TextBox 12"/>
          <p:cNvSpPr txBox="1"/>
          <p:nvPr/>
        </p:nvSpPr>
        <p:spPr>
          <a:xfrm>
            <a:off x="1280160" y="3904487"/>
            <a:ext cx="6035040" cy="365760"/>
          </a:xfrm>
          <a:prstGeom prst="rect">
            <a:avLst/>
          </a:prstGeom>
          <a:noFill/>
        </p:spPr>
        <p:txBody>
          <a:bodyPr wrap="square" lIns="0" rIns="0" tIns="0" bIns="0" anchor="t">
            <a:noAutofit/>
          </a:bodyPr>
          <a:lstStyle/>
          <a:p>
            <a:pPr algn="l">
              <a:spcAft>
                <a:spcPts val="0"/>
              </a:spcAft>
            </a:pPr>
            <a:r>
              <a:rPr sz="1800" b="1">
                <a:solidFill>
                  <a:schemeClr val="tx1"/>
                </a:solidFill>
              </a:rPr>
              <a:t>Worst drive event: a reset → </a:t>
            </a:r>
            <a:r>
              <a:rPr sz="1800" b="1">
                <a:solidFill>
                  <a:schemeClr val="accent2"/>
                </a:solidFill>
              </a:rPr>
              <a:t>Likely</a:t>
            </a:r>
          </a:p>
        </p:txBody>
      </p:sp>
      <p:sp>
        <p:nvSpPr>
          <p:cNvPr id="14" name="TextBox 13"/>
          <p:cNvSpPr txBox="1"/>
          <p:nvPr/>
        </p:nvSpPr>
        <p:spPr>
          <a:xfrm>
            <a:off x="1280160" y="4297680"/>
            <a:ext cx="6035040" cy="640080"/>
          </a:xfrm>
          <a:prstGeom prst="rect">
            <a:avLst/>
          </a:prstGeom>
          <a:noFill/>
        </p:spPr>
        <p:txBody>
          <a:bodyPr wrap="square" lIns="0" rIns="0" tIns="0" bIns="0" anchor="t">
            <a:noAutofit/>
          </a:bodyPr>
          <a:lstStyle/>
          <a:p>
            <a:pPr algn="l">
              <a:spcAft>
                <a:spcPts val="0"/>
              </a:spcAft>
            </a:pPr>
            <a:r>
              <a:rPr sz="1500" b="0">
                <a:solidFill>
                  <a:srgbClr val="3A4256"/>
                </a:solidFill>
              </a:rPr>
              <a:t>The drive acted up right before the machine went down.</a:t>
            </a:r>
          </a:p>
        </p:txBody>
      </p:sp>
      <p:sp>
        <p:nvSpPr>
          <p:cNvPr id="15" name="Step 4"/>
          <p:cNvSpPr/>
          <p:nvPr/>
        </p:nvSpPr>
        <p:spPr>
          <a:xfrm>
            <a:off x="548640" y="5029200"/>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700" b="1">
                <a:solidFill>
                  <a:schemeClr val="bg1"/>
                </a:solidFill>
              </a:rPr>
              <a:t>4</a:t>
            </a:r>
          </a:p>
        </p:txBody>
      </p:sp>
      <p:sp>
        <p:nvSpPr>
          <p:cNvPr id="16" name="TextBox 15"/>
          <p:cNvSpPr txBox="1"/>
          <p:nvPr/>
        </p:nvSpPr>
        <p:spPr>
          <a:xfrm>
            <a:off x="1280160" y="5001768"/>
            <a:ext cx="6035040" cy="365760"/>
          </a:xfrm>
          <a:prstGeom prst="rect">
            <a:avLst/>
          </a:prstGeom>
          <a:noFill/>
        </p:spPr>
        <p:txBody>
          <a:bodyPr wrap="square" lIns="0" rIns="0" tIns="0" bIns="0" anchor="t">
            <a:noAutofit/>
          </a:bodyPr>
          <a:lstStyle/>
          <a:p>
            <a:pPr algn="l">
              <a:spcAft>
                <a:spcPts val="0"/>
              </a:spcAft>
            </a:pPr>
            <a:r>
              <a:rPr sz="1800" b="1">
                <a:solidFill>
                  <a:schemeClr val="tx1"/>
                </a:solidFill>
              </a:rPr>
              <a:t>The minute after boot</a:t>
            </a:r>
          </a:p>
        </p:txBody>
      </p:sp>
      <p:sp>
        <p:nvSpPr>
          <p:cNvPr id="17" name="TextBox 16"/>
          <p:cNvSpPr txBox="1"/>
          <p:nvPr/>
        </p:nvSpPr>
        <p:spPr>
          <a:xfrm>
            <a:off x="1280160" y="5394960"/>
            <a:ext cx="6035040" cy="640080"/>
          </a:xfrm>
          <a:prstGeom prst="rect">
            <a:avLst/>
          </a:prstGeom>
          <a:noFill/>
        </p:spPr>
        <p:txBody>
          <a:bodyPr wrap="square" lIns="0" rIns="0" tIns="0" bIns="0" anchor="t">
            <a:noAutofit/>
          </a:bodyPr>
          <a:lstStyle/>
          <a:p>
            <a:pPr algn="l">
              <a:spcAft>
                <a:spcPts val="0"/>
              </a:spcAft>
            </a:pPr>
            <a:r>
              <a:rPr sz="1500" b="0">
                <a:solidFill>
                  <a:srgbClr val="3A4256"/>
                </a:solidFill>
              </a:rPr>
              <a:t>Drive detected at +3 s, one more Storport warning at +60 s → Warnings after boot.</a:t>
            </a:r>
          </a:p>
        </p:txBody>
      </p:sp>
      <p:sp>
        <p:nvSpPr>
          <p:cNvPr id="18" name="TextBox 17"/>
          <p:cNvSpPr txBox="1"/>
          <p:nvPr/>
        </p:nvSpPr>
        <p:spPr>
          <a:xfrm>
            <a:off x="548640" y="6126480"/>
            <a:ext cx="6766560" cy="274320"/>
          </a:xfrm>
          <a:prstGeom prst="rect">
            <a:avLst/>
          </a:prstGeom>
          <a:noFill/>
        </p:spPr>
        <p:txBody>
          <a:bodyPr wrap="square" lIns="0" rIns="0" tIns="0" bIns="0" anchor="t">
            <a:noAutofit/>
          </a:bodyPr>
          <a:lstStyle/>
          <a:p>
            <a:pPr algn="l">
              <a:spcAft>
                <a:spcPts val="0"/>
              </a:spcAft>
            </a:pPr>
            <a:r>
              <a:rPr sz="1200" b="0" i="1">
                <a:solidFill>
                  <a:srgbClr val="5D6577"/>
                </a:solidFill>
              </a:rPr>
              <a:t>From WELA’s built-in demo case (made-up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What the drive verdict can’t tell you</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THE DRIVE VERDICT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13</a:t>
            </a:r>
          </a:p>
        </p:txBody>
      </p:sp>
      <p:sp>
        <p:nvSpPr>
          <p:cNvPr id="5" name="Main caveat card"/>
          <p:cNvSpPr/>
          <p:nvPr/>
        </p:nvSpPr>
        <p:spPr>
          <a:xfrm>
            <a:off x="548640" y="1691640"/>
            <a:ext cx="5394960" cy="4206240"/>
          </a:xfrm>
          <a:prstGeom prst="roundRect">
            <a:avLst>
              <a:gd name="adj" fmla="val 3043"/>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arn icon circle"/>
          <p:cNvSpPr/>
          <p:nvPr/>
        </p:nvSpPr>
        <p:spPr>
          <a:xfrm>
            <a:off x="868680" y="2011680"/>
            <a:ext cx="640080" cy="6400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warn icon" descr="warn icon"/>
          <p:cNvPicPr>
            <a:picLocks noChangeAspect="1"/>
          </p:cNvPicPr>
          <p:nvPr/>
        </p:nvPicPr>
        <p:blipFill>
          <a:blip r:embed="rId3"/>
          <a:stretch>
            <a:fillRect/>
          </a:stretch>
        </p:blipFill>
        <p:spPr>
          <a:xfrm>
            <a:off x="1009497" y="2152497"/>
            <a:ext cx="358444" cy="358444"/>
          </a:xfrm>
          <a:prstGeom prst="rect">
            <a:avLst/>
          </a:prstGeom>
        </p:spPr>
      </p:pic>
      <p:sp>
        <p:nvSpPr>
          <p:cNvPr id="8" name="TextBox 7"/>
          <p:cNvSpPr txBox="1"/>
          <p:nvPr/>
        </p:nvSpPr>
        <p:spPr>
          <a:xfrm>
            <a:off x="868680" y="2834640"/>
            <a:ext cx="4754880" cy="822960"/>
          </a:xfrm>
          <a:prstGeom prst="rect">
            <a:avLst/>
          </a:prstGeom>
          <a:noFill/>
        </p:spPr>
        <p:txBody>
          <a:bodyPr wrap="square" lIns="0" rIns="0" tIns="0" bIns="0" anchor="t">
            <a:noAutofit/>
          </a:bodyPr>
          <a:lstStyle/>
          <a:p>
            <a:pPr algn="l">
              <a:spcAft>
                <a:spcPts val="0"/>
              </a:spcAft>
            </a:pPr>
            <a:r>
              <a:rPr sz="2200" b="1">
                <a:solidFill>
                  <a:schemeClr val="bg1"/>
                </a:solidFill>
              </a:rPr>
              <a:t>“No drive evidence” is not “drive cleared”</a:t>
            </a:r>
          </a:p>
        </p:txBody>
      </p:sp>
      <p:sp>
        <p:nvSpPr>
          <p:cNvPr id="9" name="TextBox 8"/>
          <p:cNvSpPr txBox="1"/>
          <p:nvPr/>
        </p:nvSpPr>
        <p:spPr>
          <a:xfrm>
            <a:off x="868680" y="3703320"/>
            <a:ext cx="4754880" cy="1005840"/>
          </a:xfrm>
          <a:prstGeom prst="rect">
            <a:avLst/>
          </a:prstGeom>
          <a:noFill/>
        </p:spPr>
        <p:txBody>
          <a:bodyPr wrap="square" lIns="0" rIns="0" tIns="0" bIns="0" anchor="t">
            <a:noAutofit/>
          </a:bodyPr>
          <a:lstStyle/>
          <a:p>
            <a:pPr algn="l">
              <a:spcAft>
                <a:spcPts val="0"/>
              </a:spcAft>
            </a:pPr>
            <a:r>
              <a:rPr sz="1600" b="0">
                <a:solidFill>
                  <a:srgbClr val="B9C2DA"/>
                </a:solidFill>
              </a:rPr>
              <a:t>Windows writes its logs to the system drive. If that drive freezes instantly, its last events are never saved — so a failing drive can look quiet.</a:t>
            </a:r>
          </a:p>
        </p:txBody>
      </p:sp>
      <p:sp>
        <p:nvSpPr>
          <p:cNvPr id="10" name="Cross-check line"/>
          <p:cNvSpPr txBox="1"/>
          <p:nvPr/>
        </p:nvSpPr>
        <p:spPr>
          <a:xfrm>
            <a:off x="868680" y="4892040"/>
            <a:ext cx="4754880" cy="685800"/>
          </a:xfrm>
          <a:prstGeom prst="rect">
            <a:avLst/>
          </a:prstGeom>
          <a:noFill/>
        </p:spPr>
        <p:txBody>
          <a:bodyPr wrap="square" lIns="0" rIns="0" tIns="0" bIns="0" anchor="t">
            <a:noAutofit/>
          </a:bodyPr>
          <a:lstStyle/>
          <a:p>
            <a:pPr algn="l">
              <a:spcAft>
                <a:spcPts val="0"/>
              </a:spcAft>
            </a:pPr>
            <a:r>
              <a:rPr sz="1600" b="1">
                <a:solidFill>
                  <a:schemeClr val="bg1"/>
                </a:solidFill>
              </a:rPr>
              <a:t>Always cross-check the drive’s own</a:t>
            </a:r>
          </a:p>
          <a:p>
            <a:pPr algn="l">
              <a:spcAft>
                <a:spcPts val="0"/>
              </a:spcAft>
            </a:pPr>
            <a:r>
              <a:rPr sz="1600" b="1">
                <a:solidFill>
                  <a:schemeClr val="bg1"/>
                </a:solidFill>
              </a:rPr>
              <a:t>SMART and error logs.</a:t>
            </a:r>
          </a:p>
        </p:txBody>
      </p:sp>
      <p:sp>
        <p:nvSpPr>
          <p:cNvPr id="11" name="power icon circle"/>
          <p:cNvSpPr/>
          <p:nvPr/>
        </p:nvSpPr>
        <p:spPr>
          <a:xfrm>
            <a:off x="6355080" y="178308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ower icon" descr="power icon"/>
          <p:cNvPicPr>
            <a:picLocks noChangeAspect="1"/>
          </p:cNvPicPr>
          <p:nvPr/>
        </p:nvPicPr>
        <p:blipFill>
          <a:blip r:embed="rId4"/>
          <a:stretch>
            <a:fillRect/>
          </a:stretch>
        </p:blipFill>
        <p:spPr>
          <a:xfrm>
            <a:off x="6475780" y="1903780"/>
            <a:ext cx="307238" cy="307238"/>
          </a:xfrm>
          <a:prstGeom prst="rect">
            <a:avLst/>
          </a:prstGeom>
        </p:spPr>
      </p:pic>
      <p:sp>
        <p:nvSpPr>
          <p:cNvPr id="13" name="TextBox 12"/>
          <p:cNvSpPr txBox="1"/>
          <p:nvPr/>
        </p:nvSpPr>
        <p:spPr>
          <a:xfrm>
            <a:off x="7086600" y="1764792"/>
            <a:ext cx="4526280" cy="365760"/>
          </a:xfrm>
          <a:prstGeom prst="rect">
            <a:avLst/>
          </a:prstGeom>
          <a:noFill/>
        </p:spPr>
        <p:txBody>
          <a:bodyPr wrap="square" lIns="0" rIns="0" tIns="0" bIns="0" anchor="t">
            <a:noAutofit/>
          </a:bodyPr>
          <a:lstStyle/>
          <a:p>
            <a:pPr algn="l">
              <a:spcAft>
                <a:spcPts val="0"/>
              </a:spcAft>
            </a:pPr>
            <a:r>
              <a:rPr sz="1800" b="1">
                <a:solidFill>
                  <a:schemeClr val="tx1"/>
                </a:solidFill>
              </a:rPr>
              <a:t>Timing isn’t proof</a:t>
            </a:r>
          </a:p>
        </p:txBody>
      </p:sp>
      <p:sp>
        <p:nvSpPr>
          <p:cNvPr id="14" name="TextBox 13"/>
          <p:cNvSpPr txBox="1"/>
          <p:nvPr/>
        </p:nvSpPr>
        <p:spPr>
          <a:xfrm>
            <a:off x="7086600" y="2148840"/>
            <a:ext cx="4526280" cy="822960"/>
          </a:xfrm>
          <a:prstGeom prst="rect">
            <a:avLst/>
          </a:prstGeom>
          <a:noFill/>
        </p:spPr>
        <p:txBody>
          <a:bodyPr wrap="square" lIns="0" rIns="0" tIns="0" bIns="0" anchor="t">
            <a:noAutofit/>
          </a:bodyPr>
          <a:lstStyle/>
          <a:p>
            <a:pPr algn="l">
              <a:spcAft>
                <a:spcPts val="0"/>
              </a:spcAft>
            </a:pPr>
            <a:r>
              <a:rPr sz="1500" b="0">
                <a:solidFill>
                  <a:srgbClr val="3A4256"/>
                </a:solidFill>
              </a:rPr>
              <a:t>A failing power supply or battery can reset the drive and cut power at the same moment.</a:t>
            </a:r>
          </a:p>
        </p:txBody>
      </p:sp>
      <p:sp>
        <p:nvSpPr>
          <p:cNvPr id="15" name="clock icon circle"/>
          <p:cNvSpPr/>
          <p:nvPr/>
        </p:nvSpPr>
        <p:spPr>
          <a:xfrm>
            <a:off x="6355080" y="324612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clock icon" descr="clock icon"/>
          <p:cNvPicPr>
            <a:picLocks noChangeAspect="1"/>
          </p:cNvPicPr>
          <p:nvPr/>
        </p:nvPicPr>
        <p:blipFill>
          <a:blip r:embed="rId5"/>
          <a:stretch>
            <a:fillRect/>
          </a:stretch>
        </p:blipFill>
        <p:spPr>
          <a:xfrm>
            <a:off x="6475780" y="3366820"/>
            <a:ext cx="307238" cy="307238"/>
          </a:xfrm>
          <a:prstGeom prst="rect">
            <a:avLst/>
          </a:prstGeom>
        </p:spPr>
      </p:pic>
      <p:sp>
        <p:nvSpPr>
          <p:cNvPr id="17" name="TextBox 16"/>
          <p:cNvSpPr txBox="1"/>
          <p:nvPr/>
        </p:nvSpPr>
        <p:spPr>
          <a:xfrm>
            <a:off x="7086600" y="3227832"/>
            <a:ext cx="4526280" cy="365760"/>
          </a:xfrm>
          <a:prstGeom prst="rect">
            <a:avLst/>
          </a:prstGeom>
          <a:noFill/>
        </p:spPr>
        <p:txBody>
          <a:bodyPr wrap="square" lIns="0" rIns="0" tIns="0" bIns="0" anchor="t">
            <a:noAutofit/>
          </a:bodyPr>
          <a:lstStyle/>
          <a:p>
            <a:pPr algn="l">
              <a:spcAft>
                <a:spcPts val="0"/>
              </a:spcAft>
            </a:pPr>
            <a:r>
              <a:rPr sz="1800" b="1">
                <a:solidFill>
                  <a:schemeClr val="tx1"/>
                </a:solidFill>
              </a:rPr>
              <a:t>Only the last minute counts</a:t>
            </a:r>
          </a:p>
        </p:txBody>
      </p:sp>
      <p:sp>
        <p:nvSpPr>
          <p:cNvPr id="18" name="TextBox 17"/>
          <p:cNvSpPr txBox="1"/>
          <p:nvPr/>
        </p:nvSpPr>
        <p:spPr>
          <a:xfrm>
            <a:off x="7086600" y="3611879"/>
            <a:ext cx="4526280" cy="822960"/>
          </a:xfrm>
          <a:prstGeom prst="rect">
            <a:avLst/>
          </a:prstGeom>
          <a:noFill/>
        </p:spPr>
        <p:txBody>
          <a:bodyPr wrap="square" lIns="0" rIns="0" tIns="0" bIns="0" anchor="t">
            <a:noAutofit/>
          </a:bodyPr>
          <a:lstStyle/>
          <a:p>
            <a:pPr algn="l">
              <a:spcAft>
                <a:spcPts val="0"/>
              </a:spcAft>
            </a:pPr>
            <a:r>
              <a:rPr sz="1500" b="0">
                <a:solidFill>
                  <a:srgbClr val="3A4256"/>
                </a:solidFill>
              </a:rPr>
              <a:t>Errors three minutes earlier, then silence, are missed. Widen the window in Analysis settings.</a:t>
            </a:r>
          </a:p>
        </p:txBody>
      </p:sp>
      <p:sp>
        <p:nvSpPr>
          <p:cNvPr id="19" name="search icon circle"/>
          <p:cNvSpPr/>
          <p:nvPr/>
        </p:nvSpPr>
        <p:spPr>
          <a:xfrm>
            <a:off x="6355080" y="47091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search icon" descr="search icon"/>
          <p:cNvPicPr>
            <a:picLocks noChangeAspect="1"/>
          </p:cNvPicPr>
          <p:nvPr/>
        </p:nvPicPr>
        <p:blipFill>
          <a:blip r:embed="rId6"/>
          <a:stretch>
            <a:fillRect/>
          </a:stretch>
        </p:blipFill>
        <p:spPr>
          <a:xfrm>
            <a:off x="6475780" y="4829860"/>
            <a:ext cx="307238" cy="307238"/>
          </a:xfrm>
          <a:prstGeom prst="rect">
            <a:avLst/>
          </a:prstGeom>
        </p:spPr>
      </p:pic>
      <p:sp>
        <p:nvSpPr>
          <p:cNvPr id="21" name="TextBox 20"/>
          <p:cNvSpPr txBox="1"/>
          <p:nvPr/>
        </p:nvSpPr>
        <p:spPr>
          <a:xfrm>
            <a:off x="7086600" y="4690872"/>
            <a:ext cx="4526280" cy="365760"/>
          </a:xfrm>
          <a:prstGeom prst="rect">
            <a:avLst/>
          </a:prstGeom>
          <a:noFill/>
        </p:spPr>
        <p:txBody>
          <a:bodyPr wrap="square" lIns="0" rIns="0" tIns="0" bIns="0" anchor="t">
            <a:noAutofit/>
          </a:bodyPr>
          <a:lstStyle/>
          <a:p>
            <a:pPr algn="l">
              <a:spcAft>
                <a:spcPts val="0"/>
              </a:spcAft>
            </a:pPr>
            <a:r>
              <a:rPr sz="1800" b="1">
                <a:solidFill>
                  <a:schemeClr val="tx1"/>
                </a:solidFill>
              </a:rPr>
              <a:t>Storport is judged by severity only</a:t>
            </a:r>
          </a:p>
        </p:txBody>
      </p:sp>
      <p:sp>
        <p:nvSpPr>
          <p:cNvPr id="22" name="TextBox 21"/>
          <p:cNvSpPr txBox="1"/>
          <p:nvPr/>
        </p:nvSpPr>
        <p:spPr>
          <a:xfrm>
            <a:off x="7086600" y="5074920"/>
            <a:ext cx="4526280" cy="822960"/>
          </a:xfrm>
          <a:prstGeom prst="rect">
            <a:avLst/>
          </a:prstGeom>
          <a:noFill/>
        </p:spPr>
        <p:txBody>
          <a:bodyPr wrap="square" lIns="0" rIns="0" tIns="0" bIns="0" anchor="t">
            <a:noAutofit/>
          </a:bodyPr>
          <a:lstStyle/>
          <a:p>
            <a:pPr algn="l">
              <a:spcAft>
                <a:spcPts val="0"/>
              </a:spcAft>
            </a:pPr>
            <a:r>
              <a:rPr sz="1500" b="0">
                <a:solidFill>
                  <a:srgbClr val="3A4256"/>
                </a:solidFill>
              </a:rPr>
              <a:t>WELA doesn’t know what each Storport ID means; an important Information-level event won’t count.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A quick tour of the app</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USING IT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14</a:t>
            </a:r>
          </a:p>
        </p:txBody>
      </p:sp>
      <p:pic>
        <p:nvPicPr>
          <p:cNvPr id="5" name="Overview screenshot" descr="WELA Overview tab: counts of each power-cycle type and the 'Did the drive cause it?' card"/>
          <p:cNvPicPr>
            <a:picLocks noChangeAspect="1"/>
          </p:cNvPicPr>
          <p:nvPr/>
        </p:nvPicPr>
        <p:blipFill>
          <a:blip r:embed="rId3"/>
          <a:stretch>
            <a:fillRect/>
          </a:stretch>
        </p:blipFill>
        <p:spPr>
          <a:xfrm>
            <a:off x="548640" y="1600200"/>
            <a:ext cx="7223760" cy="4514850"/>
          </a:xfrm>
          <a:prstGeom prst="rect">
            <a:avLst/>
          </a:prstGeom>
          <a:ln w="12700">
            <a:solidFill>
              <a:srgbClr val="D5DAE5"/>
            </a:solidFill>
          </a:ln>
        </p:spPr>
      </p:pic>
      <p:sp>
        <p:nvSpPr>
          <p:cNvPr id="6" name="TextBox 5"/>
          <p:cNvSpPr txBox="1"/>
          <p:nvPr/>
        </p:nvSpPr>
        <p:spPr>
          <a:xfrm>
            <a:off x="8092440" y="1645920"/>
            <a:ext cx="3547872" cy="292608"/>
          </a:xfrm>
          <a:prstGeom prst="rect">
            <a:avLst/>
          </a:prstGeom>
          <a:noFill/>
        </p:spPr>
        <p:txBody>
          <a:bodyPr wrap="square" lIns="0" rIns="0" tIns="0" bIns="0" anchor="t">
            <a:noAutofit/>
          </a:bodyPr>
          <a:lstStyle/>
          <a:p>
            <a:pPr algn="l">
              <a:spcAft>
                <a:spcPts val="0"/>
              </a:spcAft>
            </a:pPr>
            <a:r>
              <a:rPr sz="1500" b="1">
                <a:solidFill>
                  <a:schemeClr val="accent1"/>
                </a:solidFill>
              </a:rPr>
              <a:t>Overview</a:t>
            </a:r>
          </a:p>
        </p:txBody>
      </p:sp>
      <p:sp>
        <p:nvSpPr>
          <p:cNvPr id="7" name="TextBox 6"/>
          <p:cNvSpPr txBox="1"/>
          <p:nvPr/>
        </p:nvSpPr>
        <p:spPr>
          <a:xfrm>
            <a:off x="8092440" y="1938528"/>
            <a:ext cx="3547872" cy="457200"/>
          </a:xfrm>
          <a:prstGeom prst="rect">
            <a:avLst/>
          </a:prstGeom>
          <a:noFill/>
        </p:spPr>
        <p:txBody>
          <a:bodyPr wrap="square" lIns="0" rIns="0" tIns="0" bIns="0" anchor="t">
            <a:noAutofit/>
          </a:bodyPr>
          <a:lstStyle/>
          <a:p>
            <a:pPr algn="l">
              <a:spcAft>
                <a:spcPts val="0"/>
              </a:spcAft>
            </a:pPr>
            <a:r>
              <a:rPr sz="1300" b="0">
                <a:solidFill>
                  <a:srgbClr val="3A4256"/>
                </a:solidFill>
              </a:rPr>
              <a:t>Counts, the drive card, hard-shutdown causes, what needs review</a:t>
            </a:r>
          </a:p>
        </p:txBody>
      </p:sp>
      <p:sp>
        <p:nvSpPr>
          <p:cNvPr id="8" name="TextBox 7"/>
          <p:cNvSpPr txBox="1"/>
          <p:nvPr/>
        </p:nvSpPr>
        <p:spPr>
          <a:xfrm>
            <a:off x="8092440" y="2395728"/>
            <a:ext cx="3547872" cy="292608"/>
          </a:xfrm>
          <a:prstGeom prst="rect">
            <a:avLst/>
          </a:prstGeom>
          <a:noFill/>
        </p:spPr>
        <p:txBody>
          <a:bodyPr wrap="square" lIns="0" rIns="0" tIns="0" bIns="0" anchor="t">
            <a:noAutofit/>
          </a:bodyPr>
          <a:lstStyle/>
          <a:p>
            <a:pPr algn="l">
              <a:spcAft>
                <a:spcPts val="0"/>
              </a:spcAft>
            </a:pPr>
            <a:r>
              <a:rPr sz="1500" b="1">
                <a:solidFill>
                  <a:schemeClr val="accent1"/>
                </a:solidFill>
              </a:rPr>
              <a:t>Timeline</a:t>
            </a:r>
          </a:p>
        </p:txBody>
      </p:sp>
      <p:sp>
        <p:nvSpPr>
          <p:cNvPr id="9" name="TextBox 8"/>
          <p:cNvSpPr txBox="1"/>
          <p:nvPr/>
        </p:nvSpPr>
        <p:spPr>
          <a:xfrm>
            <a:off x="8092440" y="2688336"/>
            <a:ext cx="3547872" cy="457200"/>
          </a:xfrm>
          <a:prstGeom prst="rect">
            <a:avLst/>
          </a:prstGeom>
          <a:noFill/>
        </p:spPr>
        <p:txBody>
          <a:bodyPr wrap="square" lIns="0" rIns="0" tIns="0" bIns="0" anchor="t">
            <a:noAutofit/>
          </a:bodyPr>
          <a:lstStyle/>
          <a:p>
            <a:pPr algn="l">
              <a:spcAft>
                <a:spcPts val="0"/>
              </a:spcAft>
            </a:pPr>
            <a:r>
              <a:rPr sz="1300" b="0">
                <a:solidFill>
                  <a:srgbClr val="3A4256"/>
                </a:solidFill>
              </a:rPr>
              <a:t>Zoomable view of sessions, power cycles, sleeps and drive events</a:t>
            </a:r>
          </a:p>
        </p:txBody>
      </p:sp>
      <p:sp>
        <p:nvSpPr>
          <p:cNvPr id="10" name="TextBox 9"/>
          <p:cNvSpPr txBox="1"/>
          <p:nvPr/>
        </p:nvSpPr>
        <p:spPr>
          <a:xfrm>
            <a:off x="8092440" y="3145536"/>
            <a:ext cx="3547872" cy="292608"/>
          </a:xfrm>
          <a:prstGeom prst="rect">
            <a:avLst/>
          </a:prstGeom>
          <a:noFill/>
        </p:spPr>
        <p:txBody>
          <a:bodyPr wrap="square" lIns="0" rIns="0" tIns="0" bIns="0" anchor="t">
            <a:noAutofit/>
          </a:bodyPr>
          <a:lstStyle/>
          <a:p>
            <a:pPr algn="l">
              <a:spcAft>
                <a:spcPts val="0"/>
              </a:spcAft>
            </a:pPr>
            <a:r>
              <a:rPr sz="1500" b="1">
                <a:solidFill>
                  <a:schemeClr val="accent1"/>
                </a:solidFill>
              </a:rPr>
              <a:t>Power cycles</a:t>
            </a:r>
          </a:p>
        </p:txBody>
      </p:sp>
      <p:sp>
        <p:nvSpPr>
          <p:cNvPr id="11" name="TextBox 10"/>
          <p:cNvSpPr txBox="1"/>
          <p:nvPr/>
        </p:nvSpPr>
        <p:spPr>
          <a:xfrm>
            <a:off x="8092440" y="3438144"/>
            <a:ext cx="3547872" cy="457200"/>
          </a:xfrm>
          <a:prstGeom prst="rect">
            <a:avLst/>
          </a:prstGeom>
          <a:noFill/>
        </p:spPr>
        <p:txBody>
          <a:bodyPr wrap="square" lIns="0" rIns="0" tIns="0" bIns="0" anchor="t">
            <a:noAutofit/>
          </a:bodyPr>
          <a:lstStyle/>
          <a:p>
            <a:pPr algn="l">
              <a:spcAft>
                <a:spcPts val="0"/>
              </a:spcAft>
            </a:pPr>
            <a:r>
              <a:rPr sz="1300" b="0">
                <a:solidFill>
                  <a:srgbClr val="3A4256"/>
                </a:solidFill>
              </a:rPr>
              <a:t>Filterable list — click a row for the evidence and both drive windows</a:t>
            </a:r>
          </a:p>
        </p:txBody>
      </p:sp>
      <p:sp>
        <p:nvSpPr>
          <p:cNvPr id="12" name="TextBox 11"/>
          <p:cNvSpPr txBox="1"/>
          <p:nvPr/>
        </p:nvSpPr>
        <p:spPr>
          <a:xfrm>
            <a:off x="8092440" y="3895344"/>
            <a:ext cx="3547872" cy="292608"/>
          </a:xfrm>
          <a:prstGeom prst="rect">
            <a:avLst/>
          </a:prstGeom>
          <a:noFill/>
        </p:spPr>
        <p:txBody>
          <a:bodyPr wrap="square" lIns="0" rIns="0" tIns="0" bIns="0" anchor="t">
            <a:noAutofit/>
          </a:bodyPr>
          <a:lstStyle/>
          <a:p>
            <a:pPr algn="l">
              <a:spcAft>
                <a:spcPts val="0"/>
              </a:spcAft>
            </a:pPr>
            <a:r>
              <a:rPr sz="1500" b="1">
                <a:solidFill>
                  <a:schemeClr val="accent1"/>
                </a:solidFill>
              </a:rPr>
              <a:t>Drive</a:t>
            </a:r>
          </a:p>
        </p:txBody>
      </p:sp>
      <p:sp>
        <p:nvSpPr>
          <p:cNvPr id="13" name="TextBox 12"/>
          <p:cNvSpPr txBox="1"/>
          <p:nvPr/>
        </p:nvSpPr>
        <p:spPr>
          <a:xfrm>
            <a:off x="8092440" y="4187952"/>
            <a:ext cx="3547872" cy="457200"/>
          </a:xfrm>
          <a:prstGeom prst="rect">
            <a:avLst/>
          </a:prstGeom>
          <a:noFill/>
        </p:spPr>
        <p:txBody>
          <a:bodyPr wrap="square" lIns="0" rIns="0" tIns="0" bIns="0" anchor="t">
            <a:noAutofit/>
          </a:bodyPr>
          <a:lstStyle/>
          <a:p>
            <a:pPr algn="l">
              <a:spcAft>
                <a:spcPts val="0"/>
              </a:spcAft>
            </a:pPr>
            <a:r>
              <a:rPr sz="1300" b="0">
                <a:solidFill>
                  <a:srgbClr val="3A4256"/>
                </a:solidFill>
              </a:rPr>
              <a:t>Disk model, firmware, serial and every storage warning or error</a:t>
            </a:r>
          </a:p>
        </p:txBody>
      </p:sp>
      <p:sp>
        <p:nvSpPr>
          <p:cNvPr id="14" name="TextBox 13"/>
          <p:cNvSpPr txBox="1"/>
          <p:nvPr/>
        </p:nvSpPr>
        <p:spPr>
          <a:xfrm>
            <a:off x="8092440" y="4645152"/>
            <a:ext cx="3547872" cy="292608"/>
          </a:xfrm>
          <a:prstGeom prst="rect">
            <a:avLst/>
          </a:prstGeom>
          <a:noFill/>
        </p:spPr>
        <p:txBody>
          <a:bodyPr wrap="square" lIns="0" rIns="0" tIns="0" bIns="0" anchor="t">
            <a:noAutofit/>
          </a:bodyPr>
          <a:lstStyle/>
          <a:p>
            <a:pPr algn="l">
              <a:spcAft>
                <a:spcPts val="0"/>
              </a:spcAft>
            </a:pPr>
            <a:r>
              <a:rPr sz="1500" b="1">
                <a:solidFill>
                  <a:schemeClr val="accent1"/>
                </a:solidFill>
              </a:rPr>
              <a:t>Data quality</a:t>
            </a:r>
          </a:p>
        </p:txBody>
      </p:sp>
      <p:sp>
        <p:nvSpPr>
          <p:cNvPr id="15" name="TextBox 14"/>
          <p:cNvSpPr txBox="1"/>
          <p:nvPr/>
        </p:nvSpPr>
        <p:spPr>
          <a:xfrm>
            <a:off x="8092440" y="4937760"/>
            <a:ext cx="3547872" cy="457200"/>
          </a:xfrm>
          <a:prstGeom prst="rect">
            <a:avLst/>
          </a:prstGeom>
          <a:noFill/>
        </p:spPr>
        <p:txBody>
          <a:bodyPr wrap="square" lIns="0" rIns="0" tIns="0" bIns="0" anchor="t">
            <a:noAutofit/>
          </a:bodyPr>
          <a:lstStyle/>
          <a:p>
            <a:pPr algn="l">
              <a:spcAft>
                <a:spcPts val="0"/>
              </a:spcAft>
            </a:pPr>
            <a:r>
              <a:rPr sz="1300" b="0">
                <a:solidFill>
                  <a:srgbClr val="3A4256"/>
                </a:solidFill>
              </a:rPr>
              <a:t>Log coverage, missing records, cleared logs, clock changes</a:t>
            </a:r>
          </a:p>
        </p:txBody>
      </p:sp>
      <p:sp>
        <p:nvSpPr>
          <p:cNvPr id="16" name="TextBox 15"/>
          <p:cNvSpPr txBox="1"/>
          <p:nvPr/>
        </p:nvSpPr>
        <p:spPr>
          <a:xfrm>
            <a:off x="8092440" y="5394959"/>
            <a:ext cx="3547872" cy="292608"/>
          </a:xfrm>
          <a:prstGeom prst="rect">
            <a:avLst/>
          </a:prstGeom>
          <a:noFill/>
        </p:spPr>
        <p:txBody>
          <a:bodyPr wrap="square" lIns="0" rIns="0" tIns="0" bIns="0" anchor="t">
            <a:noAutofit/>
          </a:bodyPr>
          <a:lstStyle/>
          <a:p>
            <a:pPr algn="l">
              <a:spcAft>
                <a:spcPts val="0"/>
              </a:spcAft>
            </a:pPr>
            <a:r>
              <a:rPr sz="1500" b="1">
                <a:solidFill>
                  <a:schemeClr val="accent1"/>
                </a:solidFill>
              </a:rPr>
              <a:t>SMART check</a:t>
            </a:r>
          </a:p>
        </p:txBody>
      </p:sp>
      <p:sp>
        <p:nvSpPr>
          <p:cNvPr id="17" name="TextBox 16"/>
          <p:cNvSpPr txBox="1"/>
          <p:nvPr/>
        </p:nvSpPr>
        <p:spPr>
          <a:xfrm>
            <a:off x="8092440" y="5687568"/>
            <a:ext cx="3547872" cy="457200"/>
          </a:xfrm>
          <a:prstGeom prst="rect">
            <a:avLst/>
          </a:prstGeom>
          <a:noFill/>
        </p:spPr>
        <p:txBody>
          <a:bodyPr wrap="square" lIns="0" rIns="0" tIns="0" bIns="0" anchor="t">
            <a:noAutofit/>
          </a:bodyPr>
          <a:lstStyle/>
          <a:p>
            <a:pPr algn="l">
              <a:spcAft>
                <a:spcPts val="0"/>
              </a:spcAft>
            </a:pPr>
            <a:r>
              <a:rPr sz="1300" b="0">
                <a:solidFill>
                  <a:srgbClr val="3A4256"/>
                </a:solidFill>
              </a:rPr>
              <a:t>Compare the drive’s own counters with what the logs explain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Check the data before trusting a verdict</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USING IT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15</a:t>
            </a:r>
          </a:p>
        </p:txBody>
      </p:sp>
      <p:pic>
        <p:nvPicPr>
          <p:cNvPr id="5" name="Data quality screenshot" descr="WELA Data quality checks: logs present, 37 records missing in one gap, logs not cleared, one clock change"/>
          <p:cNvPicPr>
            <a:picLocks noChangeAspect="1"/>
          </p:cNvPicPr>
          <p:nvPr/>
        </p:nvPicPr>
        <p:blipFill>
          <a:blip r:embed="rId3"/>
          <a:stretch>
            <a:fillRect/>
          </a:stretch>
        </p:blipFill>
        <p:spPr>
          <a:xfrm>
            <a:off x="548640" y="1691640"/>
            <a:ext cx="5486400" cy="3426524"/>
          </a:xfrm>
          <a:prstGeom prst="rect">
            <a:avLst/>
          </a:prstGeom>
          <a:ln w="12700">
            <a:solidFill>
              <a:srgbClr val="D5DAE5"/>
            </a:solidFill>
          </a:ln>
        </p:spPr>
      </p:pic>
      <p:sp>
        <p:nvSpPr>
          <p:cNvPr id="6" name="TextBox 5"/>
          <p:cNvSpPr txBox="1"/>
          <p:nvPr/>
        </p:nvSpPr>
        <p:spPr>
          <a:xfrm>
            <a:off x="548640" y="5230368"/>
            <a:ext cx="5486400" cy="274320"/>
          </a:xfrm>
          <a:prstGeom prst="rect">
            <a:avLst/>
          </a:prstGeom>
          <a:noFill/>
        </p:spPr>
        <p:txBody>
          <a:bodyPr wrap="square" lIns="0" rIns="0" tIns="0" bIns="0" anchor="t">
            <a:noAutofit/>
          </a:bodyPr>
          <a:lstStyle/>
          <a:p>
            <a:pPr algn="l">
              <a:spcAft>
                <a:spcPts val="0"/>
              </a:spcAft>
            </a:pPr>
            <a:r>
              <a:rPr sz="1200" b="0" i="1">
                <a:solidFill>
                  <a:srgbClr val="5D6577"/>
                </a:solidFill>
              </a:rPr>
              <a:t>Data quality tab on the demo case.</a:t>
            </a:r>
          </a:p>
        </p:txBody>
      </p:sp>
      <p:sp>
        <p:nvSpPr>
          <p:cNvPr id="7" name="TextBox 6"/>
          <p:cNvSpPr txBox="1"/>
          <p:nvPr/>
        </p:nvSpPr>
        <p:spPr>
          <a:xfrm>
            <a:off x="6400800" y="1691640"/>
            <a:ext cx="5212080" cy="365760"/>
          </a:xfrm>
          <a:prstGeom prst="rect">
            <a:avLst/>
          </a:prstGeom>
          <a:noFill/>
        </p:spPr>
        <p:txBody>
          <a:bodyPr wrap="square" lIns="0" rIns="0" tIns="0" bIns="0" anchor="t">
            <a:noAutofit/>
          </a:bodyPr>
          <a:lstStyle/>
          <a:p>
            <a:pPr algn="l">
              <a:spcAft>
                <a:spcPts val="0"/>
              </a:spcAft>
            </a:pPr>
            <a:r>
              <a:rPr sz="1800" b="1">
                <a:solidFill>
                  <a:schemeClr val="tx1"/>
                </a:solidFill>
              </a:rPr>
              <a:t>What WELA checks</a:t>
            </a:r>
          </a:p>
        </p:txBody>
      </p:sp>
      <p:sp>
        <p:nvSpPr>
          <p:cNvPr id="8" name="TextBox 7"/>
          <p:cNvSpPr txBox="1"/>
          <p:nvPr/>
        </p:nvSpPr>
        <p:spPr>
          <a:xfrm>
            <a:off x="6400800" y="2148840"/>
            <a:ext cx="5239512" cy="2057400"/>
          </a:xfrm>
          <a:prstGeom prst="rect">
            <a:avLst/>
          </a:prstGeom>
          <a:noFill/>
        </p:spPr>
        <p:txBody>
          <a:bodyPr wrap="square" lIns="0" rIns="0" tIns="0" bIns="0" anchor="t">
            <a:noAutofit/>
          </a:bodyPr>
          <a:lstStyle/>
          <a:p>
            <a:pPr algn="l" marL="201168" indent="-201168">
              <a:spcAft>
                <a:spcPts val="600"/>
              </a:spcAft>
              <a:buClr>
                <a:srgbClr val="3A4256"/>
              </a:buClr>
              <a:buFont typeface="Arial"/>
              <a:buChar char="•"/>
            </a:pPr>
            <a:r>
              <a:rPr sz="1500" b="1">
                <a:solidFill>
                  <a:srgbClr val="3A4256"/>
                </a:solidFill>
              </a:rPr>
              <a:t>Missing logs</a:t>
            </a:r>
            <a:r>
              <a:rPr sz="1500" b="0">
                <a:solidFill>
                  <a:srgbClr val="3A4256"/>
                </a:solidFill>
              </a:rPr>
              <a:t> — ask the customer for them</a:t>
            </a:r>
          </a:p>
          <a:p>
            <a:pPr algn="l" marL="201168" indent="-201168">
              <a:spcAft>
                <a:spcPts val="600"/>
              </a:spcAft>
              <a:buClr>
                <a:srgbClr val="3A4256"/>
              </a:buClr>
              <a:buFont typeface="Arial"/>
              <a:buChar char="•"/>
            </a:pPr>
            <a:r>
              <a:rPr sz="1500" b="1">
                <a:solidFill>
                  <a:srgbClr val="3A4256"/>
                </a:solidFill>
              </a:rPr>
              <a:t>Missing records</a:t>
            </a:r>
            <a:r>
              <a:rPr sz="1500" b="0">
                <a:solidFill>
                  <a:srgbClr val="3A4256"/>
                </a:solidFill>
              </a:rPr>
              <a:t> — events were lost; nearby verdicts drop to Undetermined or lower confidence</a:t>
            </a:r>
          </a:p>
          <a:p>
            <a:pPr algn="l" marL="201168" indent="-201168">
              <a:spcAft>
                <a:spcPts val="600"/>
              </a:spcAft>
              <a:buClr>
                <a:srgbClr val="3A4256"/>
              </a:buClr>
              <a:buFont typeface="Arial"/>
              <a:buChar char="•"/>
            </a:pPr>
            <a:r>
              <a:rPr sz="1500" b="1">
                <a:solidFill>
                  <a:srgbClr val="3A4256"/>
                </a:solidFill>
              </a:rPr>
              <a:t>Cleared logs and clock changes</a:t>
            </a:r>
            <a:r>
              <a:rPr sz="1500" b="0">
                <a:solidFill>
                  <a:srgbClr val="3A4256"/>
                </a:solidFill>
              </a:rPr>
              <a:t> — treat nearby verdicts with care</a:t>
            </a:r>
          </a:p>
          <a:p>
            <a:pPr algn="l" marL="201168" indent="-201168">
              <a:spcAft>
                <a:spcPts val="600"/>
              </a:spcAft>
              <a:buClr>
                <a:srgbClr val="3A4256"/>
              </a:buClr>
              <a:buFont typeface="Arial"/>
              <a:buChar char="•"/>
            </a:pPr>
            <a:r>
              <a:rPr sz="1500" b="1">
                <a:solidFill>
                  <a:srgbClr val="3A4256"/>
                </a:solidFill>
              </a:rPr>
              <a:t>Long quiet gaps</a:t>
            </a:r>
            <a:r>
              <a:rPr sz="1500" b="0">
                <a:solidFill>
                  <a:srgbClr val="3A4256"/>
                </a:solidFill>
              </a:rPr>
              <a:t> inside a session — maybe an unlogged sleep</a:t>
            </a:r>
          </a:p>
        </p:txBody>
      </p:sp>
      <p:sp>
        <p:nvSpPr>
          <p:cNvPr id="9" name="SMART card"/>
          <p:cNvSpPr/>
          <p:nvPr/>
        </p:nvSpPr>
        <p:spPr>
          <a:xfrm>
            <a:off x="6400800" y="4251960"/>
            <a:ext cx="5239512" cy="1783080"/>
          </a:xfrm>
          <a:prstGeom prst="roundRect">
            <a:avLst>
              <a:gd name="adj" fmla="val 7179"/>
            </a:avLst>
          </a:prstGeom>
          <a:solidFill>
            <a:srgbClr val="E8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rive icon circle"/>
          <p:cNvSpPr/>
          <p:nvPr/>
        </p:nvSpPr>
        <p:spPr>
          <a:xfrm>
            <a:off x="6675120" y="4498848"/>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drive icon" descr="drive icon"/>
          <p:cNvPicPr>
            <a:picLocks noChangeAspect="1"/>
          </p:cNvPicPr>
          <p:nvPr/>
        </p:nvPicPr>
        <p:blipFill>
          <a:blip r:embed="rId4"/>
          <a:stretch>
            <a:fillRect/>
          </a:stretch>
        </p:blipFill>
        <p:spPr>
          <a:xfrm>
            <a:off x="6795820" y="4619548"/>
            <a:ext cx="307238" cy="307238"/>
          </a:xfrm>
          <a:prstGeom prst="rect">
            <a:avLst/>
          </a:prstGeom>
        </p:spPr>
      </p:pic>
      <p:sp>
        <p:nvSpPr>
          <p:cNvPr id="12" name="TextBox 11"/>
          <p:cNvSpPr txBox="1"/>
          <p:nvPr/>
        </p:nvSpPr>
        <p:spPr>
          <a:xfrm>
            <a:off x="7406640" y="4462272"/>
            <a:ext cx="4023360" cy="365760"/>
          </a:xfrm>
          <a:prstGeom prst="rect">
            <a:avLst/>
          </a:prstGeom>
          <a:noFill/>
        </p:spPr>
        <p:txBody>
          <a:bodyPr wrap="square" lIns="0" rIns="0" tIns="0" bIns="0" anchor="t">
            <a:noAutofit/>
          </a:bodyPr>
          <a:lstStyle/>
          <a:p>
            <a:pPr algn="l">
              <a:spcAft>
                <a:spcPts val="0"/>
              </a:spcAft>
            </a:pPr>
            <a:r>
              <a:rPr sz="1800" b="1">
                <a:solidFill>
                  <a:schemeClr val="tx1"/>
                </a:solidFill>
              </a:rPr>
              <a:t>SMART cross-check</a:t>
            </a:r>
          </a:p>
        </p:txBody>
      </p:sp>
      <p:sp>
        <p:nvSpPr>
          <p:cNvPr id="13" name="TextBox 12"/>
          <p:cNvSpPr txBox="1"/>
          <p:nvPr/>
        </p:nvSpPr>
        <p:spPr>
          <a:xfrm>
            <a:off x="7406640" y="4846320"/>
            <a:ext cx="4023360" cy="1097280"/>
          </a:xfrm>
          <a:prstGeom prst="rect">
            <a:avLst/>
          </a:prstGeom>
          <a:noFill/>
        </p:spPr>
        <p:txBody>
          <a:bodyPr wrap="square" lIns="0" rIns="0" tIns="0" bIns="0" anchor="t">
            <a:noAutofit/>
          </a:bodyPr>
          <a:lstStyle/>
          <a:p>
            <a:pPr algn="l">
              <a:spcAft>
                <a:spcPts val="0"/>
              </a:spcAft>
            </a:pPr>
            <a:r>
              <a:rPr sz="1400" b="0">
                <a:solidFill>
                  <a:srgbClr val="3A4256"/>
                </a:solidFill>
              </a:rPr>
              <a:t>Enter how much the drive’s Power Cycles and Unsafe Shutdowns counters rose over the log period. If the drive counted more than the logs explain, events are missing from the Windows logs.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bg1"/>
        </a:solidFill>
        <a:effectLst/>
      </p:bgPr>
    </p:bg>
    <p:spTree>
      <p:nvGrpSpPr>
        <p:cNvPr id="1" name=""/>
        <p:cNvGrpSpPr/>
        <p:nvPr/>
      </p:nvGrpSpPr>
      <p:grpSpPr/>
      <p:sp>
        <p:nvSpPr>
          <p:cNvPr id="2" name="Title 1"/>
          <p:cNvSpPr>
            <a:spLocks noGrp="1"/>
          </p:cNvSpPr>
          <p:nvPr>
            <p:ph type="title"/>
          </p:nvPr>
        </p:nvSpPr>
        <p:spPr>
          <a:xfrm>
            <a:off x="548640" y="640080"/>
            <a:ext cx="11064240" cy="685800"/>
          </a:xfrm>
        </p:spPr>
        <p:txBody>
          <a:bodyPr wrap="square" lIns="0" rIns="0" tIns="0" bIns="0" anchor="t">
            <a:noAutofit/>
          </a:bodyPr>
          <a:lstStyle/>
          <a:p>
            <a:pPr algn="l">
              <a:spcAft>
                <a:spcPts val="0"/>
              </a:spcAft>
            </a:pPr>
            <a:r>
              <a:rPr sz="3200" b="1">
                <a:solidFill>
                  <a:schemeClr val="tx1"/>
                </a:solidFill>
              </a:rPr>
              <a:t>Sharing results and tuning the rules</a:t>
            </a:r>
          </a:p>
        </p:txBody>
      </p:sp>
      <p:sp>
        <p:nvSpPr>
          <p:cNvPr id="3" name="Kicker"/>
          <p:cNvSpPr txBox="1"/>
          <p:nvPr/>
        </p:nvSpPr>
        <p:spPr>
          <a:xfrm>
            <a:off x="548640" y="384048"/>
            <a:ext cx="8229600" cy="274320"/>
          </a:xfrm>
          <a:prstGeom prst="rect">
            <a:avLst/>
          </a:prstGeom>
          <a:noFill/>
        </p:spPr>
        <p:txBody>
          <a:bodyPr wrap="square" lIns="0" rIns="0" tIns="0" bIns="0" anchor="t">
            <a:noAutofit/>
          </a:bodyPr>
          <a:lstStyle/>
          <a:p>
            <a:pPr algn="l">
              <a:spcAft>
                <a:spcPts val="0"/>
              </a:spcAft>
            </a:pPr>
            <a:r>
              <a:rPr sz="1200" b="1">
                <a:solidFill>
                  <a:schemeClr val="accent1"/>
                </a:solidFill>
              </a:rPr>
              <a:t>USING IT</a:t>
            </a:r>
          </a:p>
        </p:txBody>
      </p:sp>
      <p:sp>
        <p:nvSpPr>
          <p:cNvPr id="4" name="Slide number"/>
          <p:cNvSpPr txBox="1"/>
          <p:nvPr/>
        </p:nvSpPr>
        <p:spPr>
          <a:xfrm>
            <a:off x="10881360" y="6382512"/>
            <a:ext cx="758952" cy="274320"/>
          </a:xfrm>
          <a:prstGeom prst="rect">
            <a:avLst/>
          </a:prstGeom>
          <a:noFill/>
        </p:spPr>
        <p:txBody>
          <a:bodyPr wrap="square" lIns="0" rIns="0" tIns="0" bIns="0" anchor="t">
            <a:noAutofit/>
          </a:bodyPr>
          <a:lstStyle/>
          <a:p>
            <a:pPr algn="r">
              <a:spcAft>
                <a:spcPts val="0"/>
              </a:spcAft>
            </a:pPr>
            <a:r>
              <a:rPr sz="1100" b="0">
                <a:solidFill>
                  <a:srgbClr val="5D6577"/>
                </a:solidFill>
              </a:rPr>
              <a:t>16</a:t>
            </a:r>
          </a:p>
        </p:txBody>
      </p:sp>
      <p:sp>
        <p:nvSpPr>
          <p:cNvPr id="5" name="Exports card"/>
          <p:cNvSpPr/>
          <p:nvPr/>
        </p:nvSpPr>
        <p:spPr>
          <a:xfrm>
            <a:off x="548640" y="1691640"/>
            <a:ext cx="3538728" cy="3291840"/>
          </a:xfrm>
          <a:prstGeom prst="roundRect">
            <a:avLst>
              <a:gd name="adj" fmla="val 3888"/>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wnload icon circle"/>
          <p:cNvSpPr/>
          <p:nvPr/>
        </p:nvSpPr>
        <p:spPr>
          <a:xfrm>
            <a:off x="822959" y="19659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download icon" descr="download icon"/>
          <p:cNvPicPr>
            <a:picLocks noChangeAspect="1"/>
          </p:cNvPicPr>
          <p:nvPr/>
        </p:nvPicPr>
        <p:blipFill>
          <a:blip r:embed="rId3"/>
          <a:stretch>
            <a:fillRect/>
          </a:stretch>
        </p:blipFill>
        <p:spPr>
          <a:xfrm>
            <a:off x="943660" y="2086660"/>
            <a:ext cx="307238" cy="307238"/>
          </a:xfrm>
          <a:prstGeom prst="rect">
            <a:avLst/>
          </a:prstGeom>
        </p:spPr>
      </p:pic>
      <p:sp>
        <p:nvSpPr>
          <p:cNvPr id="8" name="TextBox 7"/>
          <p:cNvSpPr txBox="1"/>
          <p:nvPr/>
        </p:nvSpPr>
        <p:spPr>
          <a:xfrm>
            <a:off x="822959" y="2697480"/>
            <a:ext cx="3017520" cy="365760"/>
          </a:xfrm>
          <a:prstGeom prst="rect">
            <a:avLst/>
          </a:prstGeom>
          <a:noFill/>
        </p:spPr>
        <p:txBody>
          <a:bodyPr wrap="square" lIns="0" rIns="0" tIns="0" bIns="0" anchor="t">
            <a:noAutofit/>
          </a:bodyPr>
          <a:lstStyle/>
          <a:p>
            <a:pPr algn="l">
              <a:spcAft>
                <a:spcPts val="0"/>
              </a:spcAft>
            </a:pPr>
            <a:r>
              <a:rPr sz="1800" b="1">
                <a:solidFill>
                  <a:schemeClr val="tx1"/>
                </a:solidFill>
              </a:rPr>
              <a:t>Exports</a:t>
            </a:r>
          </a:p>
        </p:txBody>
      </p:sp>
      <p:sp>
        <p:nvSpPr>
          <p:cNvPr id="9" name="TextBox 8"/>
          <p:cNvSpPr txBox="1"/>
          <p:nvPr/>
        </p:nvSpPr>
        <p:spPr>
          <a:xfrm>
            <a:off x="822959" y="3154680"/>
            <a:ext cx="3017520" cy="1737360"/>
          </a:xfrm>
          <a:prstGeom prst="rect">
            <a:avLst/>
          </a:prstGeom>
          <a:noFill/>
        </p:spPr>
        <p:txBody>
          <a:bodyPr wrap="square" lIns="0" rIns="0" tIns="0" bIns="0" anchor="t">
            <a:noAutofit/>
          </a:bodyPr>
          <a:lstStyle/>
          <a:p>
            <a:pPr algn="l" marL="201168" indent="-201168">
              <a:spcAft>
                <a:spcPts val="600"/>
              </a:spcAft>
              <a:buClr>
                <a:srgbClr val="3A4256"/>
              </a:buClr>
              <a:buFont typeface="Arial"/>
              <a:buChar char="•"/>
            </a:pPr>
            <a:r>
              <a:rPr sz="1400" b="0">
                <a:solidFill>
                  <a:srgbClr val="3A4256"/>
                </a:solidFill>
              </a:rPr>
              <a:t>HTML report — one file to read and share</a:t>
            </a:r>
          </a:p>
          <a:p>
            <a:pPr algn="l" marL="201168" indent="-201168">
              <a:spcAft>
                <a:spcPts val="600"/>
              </a:spcAft>
              <a:buClr>
                <a:srgbClr val="3A4256"/>
              </a:buClr>
              <a:buFont typeface="Arial"/>
              <a:buChar char="•"/>
            </a:pPr>
            <a:r>
              <a:rPr sz="1400" b="0">
                <a:solidFill>
                  <a:srgbClr val="3A4256"/>
                </a:solidFill>
              </a:rPr>
              <a:t>Excel: Summary, Power cycles, Drive windows, Storage events, Coverage</a:t>
            </a:r>
          </a:p>
          <a:p>
            <a:pPr algn="l" marL="201168" indent="-201168">
              <a:spcAft>
                <a:spcPts val="600"/>
              </a:spcAft>
              <a:buClr>
                <a:srgbClr val="3A4256"/>
              </a:buClr>
              <a:buFont typeface="Arial"/>
              <a:buChar char="•"/>
            </a:pPr>
            <a:r>
              <a:rPr sz="1400" b="0">
                <a:solidFill>
                  <a:srgbClr val="3A4256"/>
                </a:solidFill>
              </a:rPr>
              <a:t>CSV and JSON for anything else</a:t>
            </a:r>
          </a:p>
        </p:txBody>
      </p:sp>
      <p:sp>
        <p:nvSpPr>
          <p:cNvPr id="10" name="Saved cases card"/>
          <p:cNvSpPr/>
          <p:nvPr/>
        </p:nvSpPr>
        <p:spPr>
          <a:xfrm>
            <a:off x="4315968" y="1691640"/>
            <a:ext cx="3538728" cy="3291840"/>
          </a:xfrm>
          <a:prstGeom prst="roundRect">
            <a:avLst>
              <a:gd name="adj" fmla="val 3888"/>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lder icon circle"/>
          <p:cNvSpPr/>
          <p:nvPr/>
        </p:nvSpPr>
        <p:spPr>
          <a:xfrm>
            <a:off x="4590288" y="19659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folder icon" descr="folder icon"/>
          <p:cNvPicPr>
            <a:picLocks noChangeAspect="1"/>
          </p:cNvPicPr>
          <p:nvPr/>
        </p:nvPicPr>
        <p:blipFill>
          <a:blip r:embed="rId4"/>
          <a:stretch>
            <a:fillRect/>
          </a:stretch>
        </p:blipFill>
        <p:spPr>
          <a:xfrm>
            <a:off x="4710988" y="2086660"/>
            <a:ext cx="307238" cy="307238"/>
          </a:xfrm>
          <a:prstGeom prst="rect">
            <a:avLst/>
          </a:prstGeom>
        </p:spPr>
      </p:pic>
      <p:sp>
        <p:nvSpPr>
          <p:cNvPr id="13" name="TextBox 12"/>
          <p:cNvSpPr txBox="1"/>
          <p:nvPr/>
        </p:nvSpPr>
        <p:spPr>
          <a:xfrm>
            <a:off x="4590288" y="2697480"/>
            <a:ext cx="3017520" cy="365760"/>
          </a:xfrm>
          <a:prstGeom prst="rect">
            <a:avLst/>
          </a:prstGeom>
          <a:noFill/>
        </p:spPr>
        <p:txBody>
          <a:bodyPr wrap="square" lIns="0" rIns="0" tIns="0" bIns="0" anchor="t">
            <a:noAutofit/>
          </a:bodyPr>
          <a:lstStyle/>
          <a:p>
            <a:pPr algn="l">
              <a:spcAft>
                <a:spcPts val="0"/>
              </a:spcAft>
            </a:pPr>
            <a:r>
              <a:rPr sz="1800" b="1">
                <a:solidFill>
                  <a:schemeClr val="tx1"/>
                </a:solidFill>
              </a:rPr>
              <a:t>Saved cases</a:t>
            </a:r>
          </a:p>
        </p:txBody>
      </p:sp>
      <p:sp>
        <p:nvSpPr>
          <p:cNvPr id="14" name="TextBox 13"/>
          <p:cNvSpPr txBox="1"/>
          <p:nvPr/>
        </p:nvSpPr>
        <p:spPr>
          <a:xfrm>
            <a:off x="4590288" y="3154680"/>
            <a:ext cx="3017520" cy="1737360"/>
          </a:xfrm>
          <a:prstGeom prst="rect">
            <a:avLst/>
          </a:prstGeom>
          <a:noFill/>
        </p:spPr>
        <p:txBody>
          <a:bodyPr wrap="square" lIns="0" rIns="0" tIns="0" bIns="0" anchor="t">
            <a:noAutofit/>
          </a:bodyPr>
          <a:lstStyle/>
          <a:p>
            <a:pPr algn="l" marL="201168" indent="-201168">
              <a:spcAft>
                <a:spcPts val="600"/>
              </a:spcAft>
              <a:buClr>
                <a:srgbClr val="3A4256"/>
              </a:buClr>
              <a:buFont typeface="Arial"/>
              <a:buChar char="•"/>
            </a:pPr>
            <a:r>
              <a:rPr sz="1400" b="0">
                <a:solidFill>
                  <a:srgbClr val="3A4256"/>
                </a:solidFill>
              </a:rPr>
              <a:t>Every analysis is saved on your PC, under cases/</a:t>
            </a:r>
          </a:p>
          <a:p>
            <a:pPr algn="l" marL="201168" indent="-201168">
              <a:spcAft>
                <a:spcPts val="600"/>
              </a:spcAft>
              <a:buClr>
                <a:srgbClr val="3A4256"/>
              </a:buClr>
              <a:buFont typeface="Arial"/>
              <a:buChar char="•"/>
            </a:pPr>
            <a:r>
              <a:rPr sz="1400" b="0">
                <a:solidFill>
                  <a:srgbClr val="3A4256"/>
                </a:solidFill>
              </a:rPr>
              <a:t>Reopen any case from the sidebar</a:t>
            </a:r>
          </a:p>
          <a:p>
            <a:pPr algn="l" marL="201168" indent="-201168">
              <a:spcAft>
                <a:spcPts val="600"/>
              </a:spcAft>
              <a:buClr>
                <a:srgbClr val="3A4256"/>
              </a:buClr>
              <a:buFont typeface="Arial"/>
              <a:buChar char="•"/>
            </a:pPr>
            <a:r>
              <a:rPr sz="1400" b="0">
                <a:solidFill>
                  <a:srgbClr val="3A4256"/>
                </a:solidFill>
              </a:rPr>
              <a:t>Nothing is uploaded anywhere</a:t>
            </a:r>
          </a:p>
        </p:txBody>
      </p:sp>
      <p:sp>
        <p:nvSpPr>
          <p:cNvPr id="15" name="Tuning card"/>
          <p:cNvSpPr/>
          <p:nvPr/>
        </p:nvSpPr>
        <p:spPr>
          <a:xfrm>
            <a:off x="8083296" y="1691640"/>
            <a:ext cx="3538728" cy="3291840"/>
          </a:xfrm>
          <a:prstGeom prst="roundRect">
            <a:avLst>
              <a:gd name="adj" fmla="val 3888"/>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iders icon circle"/>
          <p:cNvSpPr/>
          <p:nvPr/>
        </p:nvSpPr>
        <p:spPr>
          <a:xfrm>
            <a:off x="8357616" y="196596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sliders icon" descr="sliders icon"/>
          <p:cNvPicPr>
            <a:picLocks noChangeAspect="1"/>
          </p:cNvPicPr>
          <p:nvPr/>
        </p:nvPicPr>
        <p:blipFill>
          <a:blip r:embed="rId5"/>
          <a:stretch>
            <a:fillRect/>
          </a:stretch>
        </p:blipFill>
        <p:spPr>
          <a:xfrm>
            <a:off x="8478316" y="2086660"/>
            <a:ext cx="307238" cy="307238"/>
          </a:xfrm>
          <a:prstGeom prst="rect">
            <a:avLst/>
          </a:prstGeom>
        </p:spPr>
      </p:pic>
      <p:sp>
        <p:nvSpPr>
          <p:cNvPr id="18" name="TextBox 17"/>
          <p:cNvSpPr txBox="1"/>
          <p:nvPr/>
        </p:nvSpPr>
        <p:spPr>
          <a:xfrm>
            <a:off x="8357616" y="2697480"/>
            <a:ext cx="3017520" cy="365760"/>
          </a:xfrm>
          <a:prstGeom prst="rect">
            <a:avLst/>
          </a:prstGeom>
          <a:noFill/>
        </p:spPr>
        <p:txBody>
          <a:bodyPr wrap="square" lIns="0" rIns="0" tIns="0" bIns="0" anchor="t">
            <a:noAutofit/>
          </a:bodyPr>
          <a:lstStyle/>
          <a:p>
            <a:pPr algn="l">
              <a:spcAft>
                <a:spcPts val="0"/>
              </a:spcAft>
            </a:pPr>
            <a:r>
              <a:rPr sz="1800" b="1">
                <a:solidFill>
                  <a:schemeClr val="tx1"/>
                </a:solidFill>
              </a:rPr>
              <a:t>Tuning</a:t>
            </a:r>
          </a:p>
        </p:txBody>
      </p:sp>
      <p:sp>
        <p:nvSpPr>
          <p:cNvPr id="19" name="TextBox 18"/>
          <p:cNvSpPr txBox="1"/>
          <p:nvPr/>
        </p:nvSpPr>
        <p:spPr>
          <a:xfrm>
            <a:off x="8357616" y="3154680"/>
            <a:ext cx="3017520" cy="1737360"/>
          </a:xfrm>
          <a:prstGeom prst="rect">
            <a:avLst/>
          </a:prstGeom>
          <a:noFill/>
        </p:spPr>
        <p:txBody>
          <a:bodyPr wrap="square" lIns="0" rIns="0" tIns="0" bIns="0" anchor="t">
            <a:noAutofit/>
          </a:bodyPr>
          <a:lstStyle/>
          <a:p>
            <a:pPr algn="l" marL="201168" indent="-201168">
              <a:spcAft>
                <a:spcPts val="600"/>
              </a:spcAft>
              <a:buClr>
                <a:srgbClr val="3A4256"/>
              </a:buClr>
              <a:buFont typeface="Arial"/>
              <a:buChar char="•"/>
            </a:pPr>
            <a:r>
              <a:rPr sz="1400" b="0">
                <a:solidFill>
                  <a:srgbClr val="3A4256"/>
                </a:solidFill>
              </a:rPr>
              <a:t>Event IDs, weights, thresholds and crash codes live in wela/catalog.py</a:t>
            </a:r>
          </a:p>
          <a:p>
            <a:pPr algn="l" marL="201168" indent="-201168">
              <a:spcAft>
                <a:spcPts val="600"/>
              </a:spcAft>
              <a:buClr>
                <a:srgbClr val="3A4256"/>
              </a:buClr>
              <a:buFont typeface="Arial"/>
              <a:buChar char="•"/>
            </a:pPr>
            <a:r>
              <a:rPr sz="1400" b="0">
                <a:solidFill>
                  <a:srgbClr val="3A4256"/>
                </a:solidFill>
              </a:rPr>
              <a:t>Override any of them with wela_config.json</a:t>
            </a:r>
          </a:p>
          <a:p>
            <a:pPr algn="l" marL="201168" indent="-201168">
              <a:spcAft>
                <a:spcPts val="600"/>
              </a:spcAft>
              <a:buClr>
                <a:srgbClr val="3A4256"/>
              </a:buClr>
              <a:buFont typeface="Arial"/>
              <a:buChar char="•"/>
            </a:pPr>
            <a:r>
              <a:rPr sz="1400" b="0">
                <a:solidFill>
                  <a:srgbClr val="3A4256"/>
                </a:solidFill>
              </a:rPr>
              <a:t>Window and review threshold are in Analysis settings</a:t>
            </a:r>
          </a:p>
        </p:txBody>
      </p:sp>
      <p:sp>
        <p:nvSpPr>
          <p:cNvPr id="20" name="Under the hood band"/>
          <p:cNvSpPr/>
          <p:nvPr/>
        </p:nvSpPr>
        <p:spPr>
          <a:xfrm>
            <a:off x="548640" y="5212080"/>
            <a:ext cx="11064240" cy="868680"/>
          </a:xfrm>
          <a:prstGeom prst="roundRect">
            <a:avLst>
              <a:gd name="adj" fmla="val 14736"/>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212080"/>
            <a:ext cx="2011680" cy="868680"/>
          </a:xfrm>
          <a:prstGeom prst="rect">
            <a:avLst/>
          </a:prstGeom>
          <a:noFill/>
        </p:spPr>
        <p:txBody>
          <a:bodyPr wrap="square" lIns="0" rIns="0" tIns="0" bIns="0" anchor="ctr">
            <a:noAutofit/>
          </a:bodyPr>
          <a:lstStyle/>
          <a:p>
            <a:pPr algn="l">
              <a:spcAft>
                <a:spcPts val="0"/>
              </a:spcAft>
            </a:pPr>
            <a:r>
              <a:rPr sz="1300" b="1">
                <a:solidFill>
                  <a:srgbClr val="8FA2FF"/>
                </a:solidFill>
              </a:rPr>
              <a:t>UNDER THE HOOD</a:t>
            </a:r>
          </a:p>
        </p:txBody>
      </p:sp>
      <p:sp>
        <p:nvSpPr>
          <p:cNvPr id="22" name="TextBox 21"/>
          <p:cNvSpPr txBox="1"/>
          <p:nvPr/>
        </p:nvSpPr>
        <p:spPr>
          <a:xfrm>
            <a:off x="2926080" y="5212080"/>
            <a:ext cx="8503920" cy="868680"/>
          </a:xfrm>
          <a:prstGeom prst="rect">
            <a:avLst/>
          </a:prstGeom>
          <a:noFill/>
        </p:spPr>
        <p:txBody>
          <a:bodyPr wrap="square" lIns="0" rIns="0" tIns="0" bIns="0" anchor="ctr">
            <a:noAutofit/>
          </a:bodyPr>
          <a:lstStyle/>
          <a:p>
            <a:pPr algn="l">
              <a:spcAft>
                <a:spcPts val="0"/>
              </a:spcAft>
            </a:pPr>
            <a:r>
              <a:rPr sz="1500" b="0">
                <a:solidFill>
                  <a:schemeClr val="bg1"/>
                </a:solidFill>
              </a:rPr>
              <a:t>Python 3.9+ standard library · plain HTML/JS interface · ~3,400 lines · 20 automated tests · nothing to install on Windows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chemeClr val="tx2"/>
        </a:solidFill>
        <a:effectLst/>
      </p:bgPr>
    </p:bg>
    <p:spTree>
      <p:nvGrpSpPr>
        <p:cNvPr id="1" name=""/>
        <p:cNvGrpSpPr/>
        <p:nvPr/>
      </p:nvGrpSpPr>
      <p:grpSpPr/>
      <p:sp>
        <p:nvSpPr>
          <p:cNvPr id="2" name="Title 1"/>
          <p:cNvSpPr>
            <a:spLocks noGrp="1"/>
          </p:cNvSpPr>
          <p:nvPr>
            <p:ph type="title"/>
          </p:nvPr>
        </p:nvSpPr>
        <p:spPr>
          <a:xfrm>
            <a:off x="822960" y="685800"/>
            <a:ext cx="6858000" cy="731520"/>
          </a:xfrm>
        </p:spPr>
        <p:txBody>
          <a:bodyPr wrap="square" lIns="0" rIns="0" tIns="0" bIns="0" anchor="t">
            <a:noAutofit/>
          </a:bodyPr>
          <a:lstStyle/>
          <a:p>
            <a:pPr algn="l">
              <a:spcAft>
                <a:spcPts val="0"/>
              </a:spcAft>
            </a:pPr>
            <a:r>
              <a:rPr sz="3400" b="1">
                <a:solidFill>
                  <a:schemeClr val="bg1"/>
                </a:solidFill>
              </a:rPr>
              <a:t>What I need from you</a:t>
            </a:r>
          </a:p>
        </p:txBody>
      </p:sp>
      <p:sp>
        <p:nvSpPr>
          <p:cNvPr id="3" name="Kicker"/>
          <p:cNvSpPr txBox="1"/>
          <p:nvPr/>
        </p:nvSpPr>
        <p:spPr>
          <a:xfrm>
            <a:off x="822960" y="411480"/>
            <a:ext cx="5486400" cy="274320"/>
          </a:xfrm>
          <a:prstGeom prst="rect">
            <a:avLst/>
          </a:prstGeom>
          <a:noFill/>
        </p:spPr>
        <p:txBody>
          <a:bodyPr wrap="square" lIns="0" rIns="0" tIns="0" bIns="0" anchor="t">
            <a:noAutofit/>
          </a:bodyPr>
          <a:lstStyle/>
          <a:p>
            <a:pPr algn="l">
              <a:spcAft>
                <a:spcPts val="0"/>
              </a:spcAft>
            </a:pPr>
            <a:r>
              <a:rPr sz="1200" b="1">
                <a:solidFill>
                  <a:srgbClr val="8FA2FF"/>
                </a:solidFill>
              </a:rPr>
              <a:t>NEXT STEPS</a:t>
            </a:r>
          </a:p>
        </p:txBody>
      </p:sp>
      <p:sp>
        <p:nvSpPr>
          <p:cNvPr id="4" name="Step 1"/>
          <p:cNvSpPr/>
          <p:nvPr/>
        </p:nvSpPr>
        <p:spPr>
          <a:xfrm>
            <a:off x="822960" y="1783080"/>
            <a:ext cx="502920" cy="502920"/>
          </a:xfrm>
          <a:prstGeom prst="ellipse">
            <a:avLst/>
          </a:prstGeom>
          <a:solidFill>
            <a:srgbClr val="8FA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800" b="1">
                <a:solidFill>
                  <a:schemeClr val="tx2"/>
                </a:solidFill>
              </a:rPr>
              <a:t>1</a:t>
            </a:r>
          </a:p>
        </p:txBody>
      </p:sp>
      <p:sp>
        <p:nvSpPr>
          <p:cNvPr id="5" name="TextBox 4"/>
          <p:cNvSpPr txBox="1"/>
          <p:nvPr/>
        </p:nvSpPr>
        <p:spPr>
          <a:xfrm>
            <a:off x="1554480" y="1764792"/>
            <a:ext cx="6035040" cy="365760"/>
          </a:xfrm>
          <a:prstGeom prst="rect">
            <a:avLst/>
          </a:prstGeom>
          <a:noFill/>
        </p:spPr>
        <p:txBody>
          <a:bodyPr wrap="square" lIns="0" rIns="0" tIns="0" bIns="0" anchor="t">
            <a:noAutofit/>
          </a:bodyPr>
          <a:lstStyle/>
          <a:p>
            <a:pPr algn="l">
              <a:spcAft>
                <a:spcPts val="0"/>
              </a:spcAft>
            </a:pPr>
            <a:r>
              <a:rPr sz="1800" b="1">
                <a:solidFill>
                  <a:schemeClr val="bg1"/>
                </a:solidFill>
              </a:rPr>
              <a:t>Send me closed claims with known answers</a:t>
            </a:r>
          </a:p>
        </p:txBody>
      </p:sp>
      <p:sp>
        <p:nvSpPr>
          <p:cNvPr id="6" name="TextBox 5"/>
          <p:cNvSpPr txBox="1"/>
          <p:nvPr/>
        </p:nvSpPr>
        <p:spPr>
          <a:xfrm>
            <a:off x="1554480" y="2148840"/>
            <a:ext cx="6035040" cy="640080"/>
          </a:xfrm>
          <a:prstGeom prst="rect">
            <a:avLst/>
          </a:prstGeom>
          <a:noFill/>
        </p:spPr>
        <p:txBody>
          <a:bodyPr wrap="square" lIns="0" rIns="0" tIns="0" bIns="0" anchor="t">
            <a:noAutofit/>
          </a:bodyPr>
          <a:lstStyle/>
          <a:p>
            <a:pPr algn="l">
              <a:spcAft>
                <a:spcPts val="0"/>
              </a:spcAft>
            </a:pPr>
            <a:r>
              <a:rPr sz="1500" b="0">
                <a:solidFill>
                  <a:srgbClr val="B9C2DA"/>
                </a:solidFill>
              </a:rPr>
              <a:t>20–30 cases where we already know what happened, to check every verdict.</a:t>
            </a:r>
          </a:p>
        </p:txBody>
      </p:sp>
      <p:sp>
        <p:nvSpPr>
          <p:cNvPr id="7" name="Step 2"/>
          <p:cNvSpPr/>
          <p:nvPr/>
        </p:nvSpPr>
        <p:spPr>
          <a:xfrm>
            <a:off x="822960" y="2880360"/>
            <a:ext cx="502920" cy="502920"/>
          </a:xfrm>
          <a:prstGeom prst="ellipse">
            <a:avLst/>
          </a:prstGeom>
          <a:solidFill>
            <a:srgbClr val="8FA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800" b="1">
                <a:solidFill>
                  <a:schemeClr val="tx2"/>
                </a:solidFill>
              </a:rPr>
              <a:t>2</a:t>
            </a:r>
          </a:p>
        </p:txBody>
      </p:sp>
      <p:sp>
        <p:nvSpPr>
          <p:cNvPr id="8" name="TextBox 7"/>
          <p:cNvSpPr txBox="1"/>
          <p:nvPr/>
        </p:nvSpPr>
        <p:spPr>
          <a:xfrm>
            <a:off x="1554480" y="2862072"/>
            <a:ext cx="6035040" cy="365760"/>
          </a:xfrm>
          <a:prstGeom prst="rect">
            <a:avLst/>
          </a:prstGeom>
          <a:noFill/>
        </p:spPr>
        <p:txBody>
          <a:bodyPr wrap="square" lIns="0" rIns="0" tIns="0" bIns="0" anchor="t">
            <a:noAutofit/>
          </a:bodyPr>
          <a:lstStyle/>
          <a:p>
            <a:pPr algn="l">
              <a:spcAft>
                <a:spcPts val="0"/>
              </a:spcAft>
            </a:pPr>
            <a:r>
              <a:rPr sz="1800" b="1">
                <a:solidFill>
                  <a:schemeClr val="bg1"/>
                </a:solidFill>
              </a:rPr>
              <a:t>Help run lab tests</a:t>
            </a:r>
          </a:p>
        </p:txBody>
      </p:sp>
      <p:sp>
        <p:nvSpPr>
          <p:cNvPr id="9" name="TextBox 8"/>
          <p:cNvSpPr txBox="1"/>
          <p:nvPr/>
        </p:nvSpPr>
        <p:spPr>
          <a:xfrm>
            <a:off x="1554480" y="3246120"/>
            <a:ext cx="6035040" cy="640080"/>
          </a:xfrm>
          <a:prstGeom prst="rect">
            <a:avLst/>
          </a:prstGeom>
          <a:noFill/>
        </p:spPr>
        <p:txBody>
          <a:bodyPr wrap="square" lIns="0" rIns="0" tIns="0" bIns="0" anchor="t">
            <a:noAutofit/>
          </a:bodyPr>
          <a:lstStyle/>
          <a:p>
            <a:pPr algn="l">
              <a:spcAft>
                <a:spcPts val="0"/>
              </a:spcAft>
            </a:pPr>
            <a:r>
              <a:rPr sz="1500" b="0">
                <a:solidFill>
                  <a:srgbClr val="B9C2DA"/>
                </a:solidFill>
              </a:rPr>
              <a:t>Pull the plug, hold the power button, force a crash, sleep and wake — does WELA call each one right?</a:t>
            </a:r>
          </a:p>
        </p:txBody>
      </p:sp>
      <p:sp>
        <p:nvSpPr>
          <p:cNvPr id="10" name="Step 3"/>
          <p:cNvSpPr/>
          <p:nvPr/>
        </p:nvSpPr>
        <p:spPr>
          <a:xfrm>
            <a:off x="822960" y="3977639"/>
            <a:ext cx="502920" cy="502920"/>
          </a:xfrm>
          <a:prstGeom prst="ellipse">
            <a:avLst/>
          </a:prstGeom>
          <a:solidFill>
            <a:srgbClr val="8FA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800" b="1">
                <a:solidFill>
                  <a:schemeClr val="tx2"/>
                </a:solidFill>
              </a:rPr>
              <a:t>3</a:t>
            </a:r>
          </a:p>
        </p:txBody>
      </p:sp>
      <p:sp>
        <p:nvSpPr>
          <p:cNvPr id="11" name="TextBox 10"/>
          <p:cNvSpPr txBox="1"/>
          <p:nvPr/>
        </p:nvSpPr>
        <p:spPr>
          <a:xfrm>
            <a:off x="1554480" y="3959352"/>
            <a:ext cx="6035040" cy="365760"/>
          </a:xfrm>
          <a:prstGeom prst="rect">
            <a:avLst/>
          </a:prstGeom>
          <a:noFill/>
        </p:spPr>
        <p:txBody>
          <a:bodyPr wrap="square" lIns="0" rIns="0" tIns="0" bIns="0" anchor="t">
            <a:noAutofit/>
          </a:bodyPr>
          <a:lstStyle/>
          <a:p>
            <a:pPr algn="l">
              <a:spcAft>
                <a:spcPts val="0"/>
              </a:spcAft>
            </a:pPr>
            <a:r>
              <a:rPr sz="1800" b="1">
                <a:solidFill>
                  <a:schemeClr val="bg1"/>
                </a:solidFill>
              </a:rPr>
              <a:t>Share real Storport logs</a:t>
            </a:r>
          </a:p>
        </p:txBody>
      </p:sp>
      <p:sp>
        <p:nvSpPr>
          <p:cNvPr id="12" name="TextBox 11"/>
          <p:cNvSpPr txBox="1"/>
          <p:nvPr/>
        </p:nvSpPr>
        <p:spPr>
          <a:xfrm>
            <a:off x="1554480" y="4343400"/>
            <a:ext cx="6035040" cy="640080"/>
          </a:xfrm>
          <a:prstGeom prst="rect">
            <a:avLst/>
          </a:prstGeom>
          <a:noFill/>
        </p:spPr>
        <p:txBody>
          <a:bodyPr wrap="square" lIns="0" rIns="0" tIns="0" bIns="0" anchor="t">
            <a:noAutofit/>
          </a:bodyPr>
          <a:lstStyle/>
          <a:p>
            <a:pPr algn="l">
              <a:spcAft>
                <a:spcPts val="0"/>
              </a:spcAft>
            </a:pPr>
            <a:r>
              <a:rPr sz="1500" b="0">
                <a:solidFill>
                  <a:srgbClr val="B9C2DA"/>
                </a:solidFill>
              </a:rPr>
              <a:t>So we can name the Storport event IDs that matter, instead of relying on severity.</a:t>
            </a:r>
          </a:p>
        </p:txBody>
      </p:sp>
      <p:sp>
        <p:nvSpPr>
          <p:cNvPr id="13" name="Step 4"/>
          <p:cNvSpPr/>
          <p:nvPr/>
        </p:nvSpPr>
        <p:spPr>
          <a:xfrm>
            <a:off x="822960" y="5074920"/>
            <a:ext cx="502920" cy="502920"/>
          </a:xfrm>
          <a:prstGeom prst="ellipse">
            <a:avLst/>
          </a:prstGeom>
          <a:solidFill>
            <a:srgbClr val="8FA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Aft>
                <a:spcPts val="0"/>
              </a:spcAft>
            </a:pPr>
            <a:r>
              <a:rPr sz="1800" b="1">
                <a:solidFill>
                  <a:schemeClr val="tx2"/>
                </a:solidFill>
              </a:rPr>
              <a:t>4</a:t>
            </a:r>
          </a:p>
        </p:txBody>
      </p:sp>
      <p:sp>
        <p:nvSpPr>
          <p:cNvPr id="14" name="TextBox 13"/>
          <p:cNvSpPr txBox="1"/>
          <p:nvPr/>
        </p:nvSpPr>
        <p:spPr>
          <a:xfrm>
            <a:off x="1554480" y="5056632"/>
            <a:ext cx="6035040" cy="365760"/>
          </a:xfrm>
          <a:prstGeom prst="rect">
            <a:avLst/>
          </a:prstGeom>
          <a:noFill/>
        </p:spPr>
        <p:txBody>
          <a:bodyPr wrap="square" lIns="0" rIns="0" tIns="0" bIns="0" anchor="t">
            <a:noAutofit/>
          </a:bodyPr>
          <a:lstStyle/>
          <a:p>
            <a:pPr algn="l">
              <a:spcAft>
                <a:spcPts val="0"/>
              </a:spcAft>
            </a:pPr>
            <a:r>
              <a:rPr sz="1800" b="1">
                <a:solidFill>
                  <a:schemeClr val="bg1"/>
                </a:solidFill>
              </a:rPr>
              <a:t>Try it on your next claim</a:t>
            </a:r>
          </a:p>
        </p:txBody>
      </p:sp>
      <p:sp>
        <p:nvSpPr>
          <p:cNvPr id="15" name="TextBox 14"/>
          <p:cNvSpPr txBox="1"/>
          <p:nvPr/>
        </p:nvSpPr>
        <p:spPr>
          <a:xfrm>
            <a:off x="1554480" y="5440680"/>
            <a:ext cx="6035040" cy="640080"/>
          </a:xfrm>
          <a:prstGeom prst="rect">
            <a:avLst/>
          </a:prstGeom>
          <a:noFill/>
        </p:spPr>
        <p:txBody>
          <a:bodyPr wrap="square" lIns="0" rIns="0" tIns="0" bIns="0" anchor="t">
            <a:noAutofit/>
          </a:bodyPr>
          <a:lstStyle/>
          <a:p>
            <a:pPr algn="l">
              <a:spcAft>
                <a:spcPts val="0"/>
              </a:spcAft>
            </a:pPr>
            <a:r>
              <a:rPr sz="1500" b="0">
                <a:solidFill>
                  <a:srgbClr val="B9C2DA"/>
                </a:solidFill>
              </a:rPr>
              <a:t>Tell me where a verdict looked wrong or a reason was unclear.</a:t>
            </a:r>
          </a:p>
        </p:txBody>
      </p:sp>
      <p:sp>
        <p:nvSpPr>
          <p:cNvPr id="16" name="Questions panel"/>
          <p:cNvSpPr/>
          <p:nvPr/>
        </p:nvSpPr>
        <p:spPr>
          <a:xfrm>
            <a:off x="8138160" y="1783080"/>
            <a:ext cx="3502152" cy="3886200"/>
          </a:xfrm>
          <a:prstGeom prst="roundRect">
            <a:avLst>
              <a:gd name="adj" fmla="val 3655"/>
            </a:avLst>
          </a:prstGeom>
          <a:solidFill>
            <a:srgbClr val="1C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elp icon circle"/>
          <p:cNvSpPr/>
          <p:nvPr/>
        </p:nvSpPr>
        <p:spPr>
          <a:xfrm>
            <a:off x="8458200" y="2103120"/>
            <a:ext cx="548640" cy="54864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help icon" descr="help icon"/>
          <p:cNvPicPr>
            <a:picLocks noChangeAspect="1"/>
          </p:cNvPicPr>
          <p:nvPr/>
        </p:nvPicPr>
        <p:blipFill>
          <a:blip r:embed="rId2"/>
          <a:stretch>
            <a:fillRect/>
          </a:stretch>
        </p:blipFill>
        <p:spPr>
          <a:xfrm>
            <a:off x="8578900" y="2223820"/>
            <a:ext cx="307238" cy="307238"/>
          </a:xfrm>
          <a:prstGeom prst="rect">
            <a:avLst/>
          </a:prstGeom>
        </p:spPr>
      </p:pic>
      <p:sp>
        <p:nvSpPr>
          <p:cNvPr id="19" name="TextBox 18"/>
          <p:cNvSpPr txBox="1"/>
          <p:nvPr/>
        </p:nvSpPr>
        <p:spPr>
          <a:xfrm>
            <a:off x="8458200" y="2788920"/>
            <a:ext cx="2926080" cy="731520"/>
          </a:xfrm>
          <a:prstGeom prst="rect">
            <a:avLst/>
          </a:prstGeom>
          <a:noFill/>
        </p:spPr>
        <p:txBody>
          <a:bodyPr wrap="square" lIns="0" rIns="0" tIns="0" bIns="0" anchor="t">
            <a:noAutofit/>
          </a:bodyPr>
          <a:lstStyle/>
          <a:p>
            <a:pPr algn="l">
              <a:spcAft>
                <a:spcPts val="0"/>
              </a:spcAft>
            </a:pPr>
            <a:r>
              <a:rPr sz="3600" b="1">
                <a:solidFill>
                  <a:schemeClr val="bg1"/>
                </a:solidFill>
              </a:rPr>
              <a:t>Questions?</a:t>
            </a:r>
          </a:p>
        </p:txBody>
      </p:sp>
      <p:sp>
        <p:nvSpPr>
          <p:cNvPr id="20" name="TextBox 19"/>
          <p:cNvSpPr txBox="1"/>
          <p:nvPr/>
        </p:nvSpPr>
        <p:spPr>
          <a:xfrm>
            <a:off x="8458200" y="3657600"/>
            <a:ext cx="2926080" cy="320040"/>
          </a:xfrm>
          <a:prstGeom prst="rect">
            <a:avLst/>
          </a:prstGeom>
          <a:noFill/>
        </p:spPr>
        <p:txBody>
          <a:bodyPr wrap="square" lIns="0" rIns="0" tIns="0" bIns="0" anchor="t">
            <a:noAutofit/>
          </a:bodyPr>
          <a:lstStyle/>
          <a:p>
            <a:pPr algn="l">
              <a:spcAft>
                <a:spcPts val="0"/>
              </a:spcAft>
            </a:pPr>
            <a:r>
              <a:rPr sz="1300" b="0">
                <a:solidFill>
                  <a:srgbClr val="B9C2DA"/>
                </a:solidFill>
              </a:rPr>
              <a:t>The code</a:t>
            </a:r>
          </a:p>
        </p:txBody>
      </p:sp>
      <p:sp>
        <p:nvSpPr>
          <p:cNvPr id="21" name="TextBox 20"/>
          <p:cNvSpPr txBox="1"/>
          <p:nvPr/>
        </p:nvSpPr>
        <p:spPr>
          <a:xfrm>
            <a:off x="8458200" y="3977639"/>
            <a:ext cx="3063240" cy="365760"/>
          </a:xfrm>
          <a:prstGeom prst="rect">
            <a:avLst/>
          </a:prstGeom>
          <a:noFill/>
        </p:spPr>
        <p:txBody>
          <a:bodyPr wrap="square" lIns="0" rIns="0" tIns="0" bIns="0" anchor="t">
            <a:noAutofit/>
          </a:bodyPr>
          <a:lstStyle/>
          <a:p>
            <a:pPr algn="l">
              <a:spcAft>
                <a:spcPts val="0"/>
              </a:spcAft>
            </a:pPr>
            <a:r>
              <a:rPr sz="1500" b="1">
                <a:solidFill>
                  <a:srgbClr val="8FA2FF"/>
                </a:solidFill>
              </a:rPr>
              <a:t>github.com/hex2104/wela-app</a:t>
            </a:r>
          </a:p>
        </p:txBody>
      </p:sp>
      <p:sp>
        <p:nvSpPr>
          <p:cNvPr id="22" name="TextBox 21"/>
          <p:cNvSpPr txBox="1"/>
          <p:nvPr/>
        </p:nvSpPr>
        <p:spPr>
          <a:xfrm>
            <a:off x="8458200" y="4389120"/>
            <a:ext cx="2926080" cy="548640"/>
          </a:xfrm>
          <a:prstGeom prst="rect">
            <a:avLst/>
          </a:prstGeom>
          <a:noFill/>
        </p:spPr>
        <p:txBody>
          <a:bodyPr wrap="square" lIns="0" rIns="0" tIns="0" bIns="0" anchor="t">
            <a:noAutofit/>
          </a:bodyPr>
          <a:lstStyle/>
          <a:p>
            <a:pPr algn="l">
              <a:spcAft>
                <a:spcPts val="0"/>
              </a:spcAft>
            </a:pPr>
            <a:r>
              <a:rPr sz="1300" b="0">
                <a:solidFill>
                  <a:srgbClr val="B9C2DA"/>
                </a:solidFill>
              </a:rPr>
              <a:t>Private repo — ask me for access</a:t>
            </a:r>
          </a:p>
        </p:txBody>
      </p:sp>
    </p:spTree>
  </p:cSld>
  <p:clrMapOvr>
    <a:masterClrMapping/>
  </p:clrMapOvr>
</p:sld>
</file>

<file path=ppt/theme/theme1.xml><?xml version="1.0" encoding="utf-8"?>
<a:theme xmlns:a="http://schemas.openxmlformats.org/drawingml/2006/main" name="WELA">
  <a:themeElements>
    <a:clrScheme name="WELA">
      <a:dk1>
        <a:srgbClr val="161B29"/>
      </a:dk1>
      <a:lt1>
        <a:srgbClr val="FFFFFF"/>
      </a:lt1>
      <a:dk2>
        <a:srgbClr val="0F1320"/>
      </a:dk2>
      <a:lt2>
        <a:srgbClr val="F4F6FB"/>
      </a:lt2>
      <a:accent1>
        <a:srgbClr val="1428A0"/>
      </a:accent1>
      <a:accent2>
        <a:srgbClr val="C23A2E"/>
      </a:accent2>
      <a:accent3>
        <a:srgbClr val="B06D12"/>
      </a:accent3>
      <a:accent4>
        <a:srgbClr val="14805A"/>
      </a:accent4>
      <a:accent5>
        <a:srgbClr val="6A4BC4"/>
      </a:accent5>
      <a:accent6>
        <a:srgbClr val="77808F"/>
      </a:accent6>
      <a:hlink>
        <a:srgbClr val="1428A0"/>
      </a:hlink>
      <a:folHlink>
        <a:srgbClr val="6A4BC4"/>
      </a:folHlink>
    </a:clrScheme>
    <a:fontScheme name="WELA">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WELA — team walkthrough</dc:title>
  <dc:subject>Windows Event Log Analyzer: features, logic and limits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